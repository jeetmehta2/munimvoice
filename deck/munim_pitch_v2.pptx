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AF2"/>
                </a:solidFill>
                <a:latin typeface="Arial"/>
              </a:defRPr>
            </a:pPr>
            <a:r>
              <a:t>PAYTM AI PARTNER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2E6E"/>
                </a:solidFill>
                <a:latin typeface="Arial"/>
              </a:defRPr>
            </a:pPr>
            <a:r>
              <a:t>Munim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AF2"/>
                </a:solidFill>
                <a:latin typeface="Arial"/>
              </a:defRPr>
            </a:pPr>
            <a:r>
              <a:t>Voice-First AI Business Partner for Small Indian Merchants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Autonomous Merchant Intelligence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Understands UPI payment streams, reconstructs menus without POS hardware, and automates daily profit calculations.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Announces proactive opportunities on Soundbox and executes verified actions only after explicit mobile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3328416" cy="14630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Target Merchant Persona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Ramesh, Chai and Snacks Stall, Jaipur.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- 150+ daily micro UPI transactions.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Informal cash sales and supplier credits.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4343400"/>
            <a:ext cx="3328416" cy="14630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Delivery Channels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Simulated 4G Soundbox: audio announcements.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Mobile Web App: one-tap approval cards.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Direction: 'Phone pe approve kar dijiye'.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4343400"/>
            <a:ext cx="3328416" cy="14630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Enforced Safety Contract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 numeric errors on our 50-question test set.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Single-use runtime token for all adapters.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Append-only audit log for every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E85"/>
                </a:solidFill>
                <a:latin typeface="Arial"/>
              </a:defRPr>
            </a:pPr>
            <a:r>
              <a:t>Team: (to be added)  |  Paytm AI Partner Hackathon 2026  |  Prototype Status: Fully Functional on Synthetic Seed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MERCHANT REALITY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The Small Merchant Dilemma: High Volume, Zero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Ramesh (Chai Stall, Jaipur) processes 150+ UPI payments daily, yet operates completely blind.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328416" cy="34747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1. Invisible Margin Leak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UPI captures top-line revenue, but cash collections and daily vendor expenses go unrecorded.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True daily net profit remains unknown until bank balance runs short.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Illustrative: ~15% estimated monthly profit leak from unrecorded informal cash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2816" y="1783080"/>
            <a:ext cx="3328416" cy="34747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2. Unrecovered Customer Udhaar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Informal customer credits accumulate on scattered paper slips without structured tracking.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Merchants avoid awkward manual collection calls with familiar regular customers.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Illustrative: ~Rs 4,200 average monthly working capital frozen in unpaid udhaar.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54112" y="1783080"/>
            <a:ext cx="3328416" cy="34747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3. Reactive Operations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Without POS barcode systems, merchants cannot identify top-selling item combos.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Zero advance preparation for predictable rush surges and afternoon quiet lulls.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Marketing and combo discounts are never run due to setup friction and lack of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40680"/>
            <a:ext cx="10728655" cy="86868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The Fundamental Gap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Existing digital ledger apps only record transactions. Munim actively understands, recommends, and 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PRODUCT ARCHITECTURE &amp;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Munim: Closing the Autonomous Business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Transforming raw UPI stream events into executed, revenue-generating decisions.</a:t>
            </a:r>
          </a:p>
        </p:txBody>
      </p:sp>
      <p:pic>
        <p:nvPicPr>
          <p:cNvPr id="6" name="Picture 5" descr="soundbox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4389120" cy="28215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1783080"/>
            <a:ext cx="6156655" cy="105156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1. UNDERSTAND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Infers menu items and combo baskets directly from UPI payment amount clusters without POS.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944368"/>
            <a:ext cx="6156655" cy="105156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2. RECOMMEND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Detects rush-hour footfall surges, slow quiet periods, and aging customer credit balances.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4105656"/>
            <a:ext cx="6156655" cy="105156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3. ACT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Announces voice briefs on Soundbox and delivers one-tap approval cards to merchant phone.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5266944"/>
            <a:ext cx="6156655" cy="105156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4. MEASURE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Tracks sales uplift, customer settlement rate, and working capital gains against pre-action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SYSTEM ARCHITECTURE &amp;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Deterministic Intelligence with Token-Enforced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LLM provides Hinglish dialogue orchestration; analytics and adapter execution are strictly isolated.</a:t>
            </a:r>
          </a:p>
        </p:txBody>
      </p:sp>
      <p:pic>
        <p:nvPicPr>
          <p:cNvPr id="6" name="Picture 5" descr="architectur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64208"/>
            <a:ext cx="10728655" cy="33974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138928"/>
            <a:ext cx="3429000" cy="1353312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Zero LLM Arithmetic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All financial sums, margins, and scores calculated deterministically in Python.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 numeric errors on our 50-question test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5138928"/>
            <a:ext cx="3429000" cy="1353312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Mandatory Merchant Approval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No external adapter can fire without explicit confirmation on mobile screen.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Soundbox audio prompts: 'Phone pe approve kar dijiye'.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8432" y="5138928"/>
            <a:ext cx="3429000" cy="1353312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Runtime Token Lock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Single-use runtime token generated per execution.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Direct adapter calls without token raise PermissionError (tested).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CORE AI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Item Inference: Menu Discovery from UPI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Reconstructing catalog and combo baskets from anonymous payment frequencies without POS hardware.</a:t>
            </a:r>
          </a:p>
        </p:txBody>
      </p:sp>
      <p:pic>
        <p:nvPicPr>
          <p:cNvPr id="6" name="Picture 5" descr="what_i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4572000" cy="69241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783080"/>
            <a:ext cx="5973775" cy="155448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Evaluation Benchmarks on Synthetic Data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Easy Baseline (4 distinct price points): Precision 1.0, Recall 1.0, F1 1.0.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Hard Stress Test (7 items, 2 price collisions, combos, noise, sparse item): Precision 0.50, Recall 0.71, F1 0.59, Top-1 Accuracy 0.57.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474720"/>
            <a:ext cx="5973775" cy="155448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3-Stage Inference Methodology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- 1. Price-Point Clustering: Extracts modal transaction amounts from raw stream.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- 2. Domain Priors: Maps clusters to trade items and 2-item combo equations.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- 3. Bayesian Confirmation: Merchant confirms candidate hypotheses via UI chips.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5166360"/>
            <a:ext cx="5973775" cy="114300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Practical Merchant Benefit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Delivers enterprise-grade SKU and basket analysis to street stalls without requiring barcode scanners.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FINANCIAL HEALTH &amp; BOOKKEEPING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Unified Bahi-Khata: True Daily Profit &amp; Udhaar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Bridging digital UPI receipts, informal cash expenses, and automated customer credit management.</a:t>
            </a:r>
          </a:p>
        </p:txBody>
      </p:sp>
      <p:pic>
        <p:nvPicPr>
          <p:cNvPr id="6" name="Picture 5" descr="bahi_kh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4572000" cy="69241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783080"/>
            <a:ext cx="5973775" cy="14630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Deterministic True Daily Profit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Daily True Profit = UPI Inflow + Cash Inflow - Daily Cash Expenses.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Input via voice transcript or typed text (e.g. 'Doodh 500 aur cheeni 200 cash di').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- 27 of 30 Hinglish test phrases accurately parsed in benchmark.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383280"/>
            <a:ext cx="5973775" cy="14630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Udhaar Tracking with Tone Selection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Tracks customer balances, aging days, and repayment probability.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Merchant selects reminder tone for each customer: Polite, Formal, or Firm.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Pre-drafts personalized Hinglish collection messages with payment links.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983480"/>
            <a:ext cx="5973775" cy="132588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Consent-Gated Execution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Reminders dispatched via mock WhatsApp adapter only after merchant approves.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All dispatched collection attempts recorded in append-only audit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DEVICE INTERACTION &amp;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Simulated Soundbox: Proactive Edge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Real-time audio announcements in the stall, with safe decision controls on the merchant mobile screen.</a:t>
            </a:r>
          </a:p>
        </p:txBody>
      </p:sp>
      <p:pic>
        <p:nvPicPr>
          <p:cNvPr id="6" name="Picture 5" descr="soundbox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4572000" cy="80420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783080"/>
            <a:ext cx="5973775" cy="137160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Output-Only Soundbox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Simulated 4G Soundbox plays neural Hinglish TTS audio announcements.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Directs merchant to smartphone: 'Phone pe approve kar dijiye'.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No microphone or decision buttons on device, preserving hardware simplicity.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291840"/>
            <a:ext cx="5973775" cy="137160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Proactive Store Triggers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Morning Brief: Daily sales target, yesterday net profit, and stock alerts.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Rush Warning: Footfall volume Z-score alert 30 minutes before peak lunch rush.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800600"/>
            <a:ext cx="5973775" cy="150876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The 'Don't Act' Prudence Example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Munim evaluates running a promotional combo offer during peak rush hours.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Decision engine explicitly suppresses campaign: discounts during peak hours erode gross margin without adding kitchen capacity.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FINANCIAL INCLUSION &amp; LENDING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Munim Score: Behavioral Underwriting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A real-time operational discipline score designed to enrich Paytm's licensed lending underwriting.</a:t>
            </a:r>
          </a:p>
        </p:txBody>
      </p:sp>
      <p:pic>
        <p:nvPicPr>
          <p:cNvPr id="6" name="Picture 5" descr="munim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4572000" cy="69241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783080"/>
            <a:ext cx="5973775" cy="169164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5 Behavioral Health Dimensions (0-100)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- 1. Volume Consistency: Daily transaction stability across weeks.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- 2. Expense Discipline: Daily logging of cash outflows and supplier costs.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- 3. Repayment Regularity: Velocity of supplier and vendor settlements.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- 4. Udhaar Health: Ratio of active customer credits to recovered dues.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- 5. Operational Stability: Regular trading hours and business consistency.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611880"/>
            <a:ext cx="5973775" cy="128016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Enrichment Signal, Not Credit Decision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 behavioral signal that could enrich Paytm's existing, licensed underwriting.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Not a formal credit decision or loan offer; contains no pre-approved limits.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5029200"/>
            <a:ext cx="5973775" cy="128016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In-App Disclaimer Enforced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Visible in mobile UI: 'Munim Score is a behavioral management indicator and does not constitute a formal loan offer or statutory credit rating.'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DEMONSTRATION SCENARIO &amp; PROOF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A Day in the Life of Ramesh: 5-Act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Complete user journey executed end-to-end on seeded synthetic data in 3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029968" cy="43891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Act 1: Morning Brief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- 08:00 AM.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Soundbox plays TTS morning briefing.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Announces daily revenue goal and yesterday's net cash profit.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Suggests milk stocking based on inferred volume.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8648" y="1783080"/>
            <a:ext cx="2029968" cy="43891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Act 2: Rush Warning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- 12:30 PM.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Footfall surge detected (+2.8 sigma over baseline).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Soundbox alerts stall owner to prep chai and snacks.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System suppresses discounts to protect margin.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5776" y="1783080"/>
            <a:ext cx="2029968" cy="43891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Act 3: Bahi-Khata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- 04:30 PM.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Ramesh submits daily cash expense via voice transcript or typed text.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Munim parses Hindi expense entries.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Real-time true net profit updated instantly.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2904" y="1783080"/>
            <a:ext cx="2029968" cy="438912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Act 4: Udhaar Action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- 06:00 PM.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Overdue udhaar flagged for frequent customer.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Approval card appears on mobile screen.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Ramesh taps 'Approve'; mock WhatsApp reminder dispatched.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00032" y="1783080"/>
            <a:ext cx="2029968" cy="43891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Act 5: Measure Uplift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- 09:00 PM.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Evaluates Tuesday combo campaign.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Result: +21.4% revenue (Illustrative in simulation).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Munim Score recalculates with updated expense discipline.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9260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0BAF2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1">
                <a:solidFill>
                  <a:srgbClr val="002E6E"/>
                </a:solidFill>
                <a:latin typeface="Arial"/>
              </a:defRPr>
            </a:pPr>
            <a:r>
              <a:t>Measured Impact, Strategic Value &amp; Immediate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5A6E85"/>
                </a:solidFill>
                <a:latin typeface="Arial"/>
              </a:defRPr>
            </a:pPr>
            <a:r>
              <a:t>A production-ready blueprint built specifically for the Paytm merchant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328416" cy="39319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Measured Prototype Results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Benchmarked across 81,273 synthetic transactions across 6 merchant profiles.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- 0 numeric errors on 50-question Hinglish benchmark.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- 27 of 30 test phrases accurately parsed for cash expenses and udhaar.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Item Inference: Easy case F1: 1.0 | Hard stress test F1: 0.59.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Append-only audit log records every decision and approval timestamp.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2816" y="1783080"/>
            <a:ext cx="3328416" cy="3931920"/>
          </a:xfrm>
          <a:prstGeom prst="rect">
            <a:avLst/>
          </a:prstGeom>
          <a:solidFill>
            <a:srgbClr val="EEF2F6"/>
          </a:solidFill>
          <a:ln w="1524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Strategic Value to Paytm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Soundbox Retention: Transforms audio payment confirmation into an essential business partner.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Active Daily Engagement: Merchants interact with Paytm app daily for bahi-khata and approvals.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Underwriting Advantage: Unique behavioral data asset to enrich licensed merchant loan underwriting.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54112" y="1783080"/>
            <a:ext cx="3328416" cy="3931920"/>
          </a:xfrm>
          <a:prstGeom prst="rect">
            <a:avLst/>
          </a:prstGeom>
          <a:solidFill>
            <a:srgbClr val="EEF2F6"/>
          </a:solidFill>
          <a:ln w="1524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2E6E"/>
                </a:solidFill>
                <a:latin typeface="Arial"/>
              </a:defRPr>
            </a:pPr>
            <a:r>
              <a:t>Immediate Roadmap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- 1. Live Browser WebSpeech Mic: Add direct in-browser microphone capture to supplement typed text.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- 2. Multi-Regional Language TTS: Expand neural audio support to Tamil, Telugu, Marathi, and Bengali.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  <a:latin typeface="Arial"/>
              </a:defRPr>
            </a:pPr>
            <a:r>
              <a:t>- Architecture ready for live Paytm Merchant SDK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E85"/>
                </a:solidFill>
                <a:latin typeface="Arial"/>
              </a:defRPr>
            </a:pPr>
            <a:r>
              <a:t>Team: (to be added)  |  Paytm AI Partner Hackathon 2026  |  Source Repository: Munim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