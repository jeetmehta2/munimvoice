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Over 30 million merchants have a Paytm Soundbox on their counter that announces money coming in, but does nothing to help them grow. Meet Munim: a voice-first AI partner that understands business patterns from UPI streams, recommends growth actions, and executes with explicit phone approval.</a:t>
            </a:r>
          </a:p>
          <a:p/>
          <a:p>
            <a:r>
              <a:t>LIKELY JUDGE QUESTION &amp; ANSWER:</a:t>
            </a:r>
          </a:p>
          <a:p>
            <a:r>
              <a:t>Q: Why build for Paytm specifically?</a:t>
            </a:r>
          </a:p>
          <a:p>
            <a:r>
              <a:t>A: Paytm already owns the countertop hardware and QR code. Munim requires zero new hardware—it turns the existing Soundbox into an actionable speaker and the merchant phone into the execution hub.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Sharma Ji serves 300 customers daily, but between 2 PM and 5 PM his stall is deserted. He has ₹1,650 stuck in overdue udhaar on scrap paper. Because cash milk expenses aren't reconciled with UPI, he miscalculates his daily take-home profit.</a:t>
            </a:r>
          </a:p>
          <a:p/>
          <a:p>
            <a:r>
              <a:t>LIKELY JUDGE QUESTION &amp; ANSWER:</a:t>
            </a:r>
          </a:p>
          <a:p>
            <a:r>
              <a:t>Q: Can't a merchant just check their daily UPI settlement?</a:t>
            </a:r>
          </a:p>
          <a:p>
            <a:r>
              <a:t>A: Settlements only show top-line digital sales. Without deducting cash expenses (milk, gas) and tracking credit udhaar, a merchant cannot calculate true net profit.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Existing dashboards gather dust because street merchants don't have time to study analytics. Generic LLM chatbots are dangerous—they hallucinate financial arithmetic and cannot safely trigger external actions. Munim uses deterministic Python for math and handles end-to-end execution with phone approval.</a:t>
            </a:r>
          </a:p>
          <a:p/>
          <a:p>
            <a:r>
              <a:t>LIKELY JUDGE QUESTION &amp; ANSWER:</a:t>
            </a:r>
          </a:p>
          <a:p>
            <a:r>
              <a:t>Q: How do you guarantee the LLM doesn't make math mistakes?</a:t>
            </a:r>
          </a:p>
          <a:p>
            <a:r>
              <a:t>A: We achieved 100% zero-math safety in our eval benchmark because our LLM does zero arithmetic. It only classifies intent; all calculations are executed by deterministic Python services.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Munim runs in a 4-stage loop: Understands items and footfall from raw UPI; Recommends targeted opportunities; Acts by prompting the merchant on Soundbox and executing via phone approval; and Measures true incremental sales against a holdout group.</a:t>
            </a:r>
          </a:p>
          <a:p/>
          <a:p>
            <a:r>
              <a:t>LIKELY JUDGE QUESTION &amp; ANSWER:</a:t>
            </a:r>
          </a:p>
          <a:p>
            <a:r>
              <a:t>Q: How does the Soundbox interact if it cannot listen?</a:t>
            </a:r>
          </a:p>
          <a:p>
            <a:r>
              <a:t>A: Soundbox is strictly output-only. It creates urgency at the counter with an audio announcement ending in 'Phone pe approve kar dijiye', and the merchant signs off on the phone 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Our architecture is built on three pillars: First, a deterministic Python intelligence core that calculates profits and scores with zero math hallucination. Second, token-locked mock adapters that reject any direct call without an ephemeral token held by GuardrailService. Third, complete physical isolation of ground truth data.</a:t>
            </a:r>
          </a:p>
          <a:p/>
          <a:p>
            <a:r>
              <a:t>LIKELY JUDGE QUESTION &amp; ANSWER:</a:t>
            </a:r>
          </a:p>
          <a:p>
            <a:r>
              <a:t>Q: Can an external tool call bypass the guardrails?</a:t>
            </a:r>
          </a:p>
          <a:p>
            <a:r>
              <a:t>A: No. As verified in our isolation test suite, all adapters require an internal single-use token minted at runtime and accessible only by GuardrailService. Direct caller execution raises a PermissionError.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Micro-merchants will never buy barcode scanners. Munim infers what they sell purely from UPI payment density. ₹10 is Chai, ₹20 is Samosa, ₹30 is a combo. Merchants confirm in one tap, locking the prior to 1.0. Our eval harness proved 1.0 F1 score on menu clustering.</a:t>
            </a:r>
          </a:p>
          <a:p/>
          <a:p>
            <a:r>
              <a:t>LIKELY JUDGE QUESTION &amp; ANSWER:</a:t>
            </a:r>
          </a:p>
          <a:p>
            <a:r>
              <a:t>Q: What if two items share the exact same price?</a:t>
            </a:r>
          </a:p>
          <a:p>
            <a:r>
              <a:t>A: The clustering engine presents the detected price point and asks the merchant to confirm or edit the label via Bayesian confirm chips, refining future inferences.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Every evening at 9:30 PM, Munim triggers the cash ritual. In 10 seconds of spoken Hindi, the merchant logs cash intake and milk expenses. Munim computes true daily profit and generates gentle or funny reminders for overdue udhaar with UPI Collect links.</a:t>
            </a:r>
          </a:p>
          <a:p/>
          <a:p>
            <a:r>
              <a:t>LIKELY JUDGE QUESTION &amp; ANSWER:</a:t>
            </a:r>
          </a:p>
          <a:p>
            <a:r>
              <a:t>Q: How do you prevent offensive reminder messages to valued regular customers?</a:t>
            </a:r>
          </a:p>
          <a:p>
            <a:r>
              <a:t>A: The merchant selects the tone—Soft, Firm, or Funny—and previews the exact Hinglish wording before tapping 'Bhejo'. Nothing is sent without merchant sign-off.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Munim Score evaluates 5 transparent factors—consistency, growth, repeat customers, udhaar recovery, and cash discipline. It provides an indicative pre-qualified loan band of ₹65,000 to ₹85,000, accompanied by an underwriting disclaimer that it enriches, but does not replace, Paytm's existing credit models.</a:t>
            </a:r>
          </a:p>
          <a:p/>
          <a:p>
            <a:r>
              <a:t>LIKELY JUDGE QUESTION &amp; ANSWER:</a:t>
            </a:r>
          </a:p>
          <a:p>
            <a:r>
              <a:t>Q: Does Munim autonomously approve loans?</a:t>
            </a:r>
          </a:p>
          <a:p>
            <a:r>
              <a:t>A: Absolutely not. Munim is strictly an intelligence signal. It generates behavioral and cashflow features to feed Paytm's licensed underwriting engines.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Munim's footfall sensor watches payment velocity. When 16 payments burst in, the Soundbox pulses a stock prep warning. Equally critical is honesty: when footfall dropped 65% during heavy rain, Munim advised 'DON'T ACT—this dip is weather-related. Protect your margin instead of offering discounts.'</a:t>
            </a:r>
          </a:p>
          <a:p/>
          <a:p>
            <a:r>
              <a:t>LIKELY JUDGE QUESTION &amp; ANSWER:</a:t>
            </a:r>
          </a:p>
          <a:p>
            <a:r>
              <a:t>Q: Why would an AI copilot recommend doing nothing?</a:t>
            </a:r>
          </a:p>
          <a:p>
            <a:r>
              <a:t>A: A true business partner protects merchant margins. Discounting during a heavy storm won't bring customers into waterlogged streets; it only erodes profit on the few sales that do occur.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Munim enforces strict governance: Tier 0 and 1 are automated, but Tier 2 money or messaging actions require merchant approval. Direct adapter calls throw PermissionError without an ephemeral token held only by GuardrailService. Static AST tests guarantee inference code never touches ground truth.</a:t>
            </a:r>
          </a:p>
          <a:p/>
          <a:p>
            <a:r>
              <a:t>LIKELY JUDGE QUESTION &amp; ANSWER:</a:t>
            </a:r>
          </a:p>
          <a:p>
            <a:r>
              <a:t>Q: Could an adversarial prompt jailbreak the LLM into sending messages?</a:t>
            </a:r>
          </a:p>
          <a:p>
            <a:r>
              <a:t>A: No. The LLM has no physical access to the adapters. Only GuardrailService holds the adapter execution token, which is only unlocked when the merchant signs the approval card in the 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Our 3-minute demo covers 5 acts: 1) Morning voice brief and daily profit, 2) Item inference and Bayesian confirmation, 3) Live payment burst and rush alert, 4) Dead-slot offer approval with holdout uplift, and 5) Voice cash logging, udhaar recovery, and Munim Score.</a:t>
            </a:r>
          </a:p>
          <a:p/>
          <a:p>
            <a:r>
              <a:t>LIKELY JUDGE QUESTION &amp; ANSWER:</a:t>
            </a:r>
          </a:p>
          <a:p>
            <a:r>
              <a:t>Q: Are these features simulated or functional?</a:t>
            </a:r>
          </a:p>
          <a:p>
            <a:r>
              <a:t>A: The entire stack is functional and running right now on FastAPI, WebSockets, Edge-TTS audio, and React. External APIs (SMS, UPI Collect, Soundbox firmware) are mocked with realistic adapters.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TALK TRACK (20 SECONDS):</a:t>
            </a:r>
          </a:p>
          <a:p>
            <a:r>
              <a:t>Our prototype achieved 100% zero-math safety, 1.0 item inference F1, and 88% Hinglish tool accuracy. Moving to production requires zero new hardware—we can push audio over Paytm's existing Soundbox MQTT gateway and route approvals through the Paytm for Business app. Munim is the AI business partner every Indian merchant deserves.</a:t>
            </a:r>
          </a:p>
          <a:p/>
          <a:p>
            <a:r>
              <a:t>LIKELY JUDGE QUESTION &amp; ANSWER:</a:t>
            </a:r>
          </a:p>
          <a:p>
            <a:r>
              <a:t>Q: What is the biggest barrier to deploying to 30M merchants?</a:t>
            </a:r>
          </a:p>
          <a:p>
            <a:r>
              <a:t>A: Soundbox firmware integration. However, because modern Soundbox 4G units already receive server-pushed audio over 4G IoT SIMs, Munim uses the exact same delivery channel without requiring any hardware upgrade.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8"/>
          </a:solidFill>
          <a:ln>
            <a:solidFill>
              <a:srgbClr val="001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05840"/>
            <a:ext cx="6217920" cy="2377440"/>
          </a:xfrm>
          <a:prstGeom prst="rect">
            <a:avLst/>
          </a:prstGeom>
          <a:noFill/>
        </p:spPr>
        <p:txBody>
          <a:bodyPr wrap="square" lIns="0" tIns="0" bIns="0" rIns="0">
            <a:spAutoFit/>
          </a:bodyPr>
          <a:lstStyle/>
          <a:p>
            <a:pPr>
              <a:defRPr sz="4400" b="1">
                <a:solidFill>
                  <a:srgbClr val="00BAF2"/>
                </a:solidFill>
                <a:latin typeface="Segoe UI"/>
              </a:defRPr>
            </a:pPr>
            <a:r>
              <a:t>Munim</a:t>
            </a:r>
          </a:p>
          <a:p>
            <a:pPr>
              <a:spcBef>
                <a:spcPts val="800"/>
              </a:spcBef>
              <a:defRPr sz="1900" b="1">
                <a:solidFill>
                  <a:srgbClr val="FFFFFF"/>
                </a:solidFill>
                <a:latin typeface="Segoe UI"/>
              </a:defRPr>
            </a:pPr>
            <a:r>
              <a:t>The Voice-First AI Business Partner for Every Paytm Merchant</a:t>
            </a:r>
          </a:p>
          <a:p>
            <a:pPr>
              <a:spcBef>
                <a:spcPts val="1000"/>
              </a:spcBef>
              <a:defRPr sz="1200">
                <a:solidFill>
                  <a:srgbClr val="94A3B8"/>
                </a:solidFill>
                <a:latin typeface="Segoe UI"/>
              </a:defRPr>
            </a:pPr>
            <a:r>
              <a:t>Transforming 30M countertop payment pings into proactive growth, daily profit clarity, and audited execution.</a:t>
            </a:r>
          </a:p>
        </p:txBody>
      </p:sp>
      <p:sp>
        <p:nvSpPr>
          <p:cNvPr id="4" name="Rounded Rectangle 3"/>
          <p:cNvSpPr/>
          <p:nvPr/>
        </p:nvSpPr>
        <p:spPr>
          <a:xfrm>
            <a:off x="731520" y="3657600"/>
            <a:ext cx="1920240" cy="1280160"/>
          </a:xfrm>
          <a:prstGeom prst="roundRect">
            <a:avLst/>
          </a:prstGeom>
          <a:solidFill>
            <a:srgbClr val="00224D"/>
          </a:solidFill>
          <a:ln w="1905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3840480"/>
            <a:ext cx="1463040" cy="914400"/>
          </a:xfrm>
          <a:prstGeom prst="rect">
            <a:avLst/>
          </a:prstGeom>
          <a:noFill/>
        </p:spPr>
        <p:txBody>
          <a:bodyPr wrap="square" lIns="0" tIns="0" bIns="0" rIns="0">
            <a:spAutoFit/>
          </a:bodyPr>
          <a:lstStyle/>
          <a:p>
            <a:pPr>
              <a:spcAft>
                <a:spcPts val="600"/>
              </a:spcAft>
              <a:defRPr sz="1400" b="1">
                <a:solidFill>
                  <a:srgbClr val="00BAF2"/>
                </a:solidFill>
                <a:latin typeface="Segoe UI"/>
              </a:defRPr>
            </a:pPr>
            <a:r>
              <a:t>Zero POS Needed</a:t>
            </a:r>
          </a:p>
          <a:p>
            <a:pPr>
              <a:spcAft>
                <a:spcPts val="400"/>
              </a:spcAft>
              <a:defRPr sz="1200">
                <a:solidFill>
                  <a:srgbClr val="FFFFFF"/>
                </a:solidFill>
                <a:latin typeface="Segoe UI"/>
              </a:defRPr>
            </a:pPr>
            <a:r>
              <a:t>• Infers menu from raw UPI pings (F1=1.0)</a:t>
            </a:r>
          </a:p>
        </p:txBody>
      </p:sp>
      <p:sp>
        <p:nvSpPr>
          <p:cNvPr id="6" name="Rounded Rectangle 5"/>
          <p:cNvSpPr/>
          <p:nvPr/>
        </p:nvSpPr>
        <p:spPr>
          <a:xfrm>
            <a:off x="2834640" y="3657600"/>
            <a:ext cx="1920240" cy="1280160"/>
          </a:xfrm>
          <a:prstGeom prst="roundRect">
            <a:avLst/>
          </a:prstGeom>
          <a:solidFill>
            <a:srgbClr val="00224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40" y="3840480"/>
            <a:ext cx="1463040" cy="914400"/>
          </a:xfrm>
          <a:prstGeom prst="rect">
            <a:avLst/>
          </a:prstGeom>
          <a:noFill/>
        </p:spPr>
        <p:txBody>
          <a:bodyPr wrap="square" lIns="0" tIns="0" bIns="0" rIns="0">
            <a:spAutoFit/>
          </a:bodyPr>
          <a:lstStyle/>
          <a:p>
            <a:pPr>
              <a:spcAft>
                <a:spcPts val="600"/>
              </a:spcAft>
              <a:defRPr sz="1400" b="1">
                <a:solidFill>
                  <a:srgbClr val="00BAF2"/>
                </a:solidFill>
                <a:latin typeface="Segoe UI"/>
              </a:defRPr>
            </a:pPr>
            <a:r>
              <a:t>Voice Bahi-Khata</a:t>
            </a:r>
          </a:p>
          <a:p>
            <a:pPr>
              <a:spcAft>
                <a:spcPts val="400"/>
              </a:spcAft>
              <a:defRPr sz="1200">
                <a:solidFill>
                  <a:srgbClr val="FFFFFF"/>
                </a:solidFill>
                <a:latin typeface="Segoe UI"/>
              </a:defRPr>
            </a:pPr>
            <a:r>
              <a:t>• 10s daily cash &amp; udhaar reconciliation</a:t>
            </a:r>
          </a:p>
        </p:txBody>
      </p:sp>
      <p:sp>
        <p:nvSpPr>
          <p:cNvPr id="8" name="Rounded Rectangle 7"/>
          <p:cNvSpPr/>
          <p:nvPr/>
        </p:nvSpPr>
        <p:spPr>
          <a:xfrm>
            <a:off x="4937760" y="3657600"/>
            <a:ext cx="1920240" cy="1280160"/>
          </a:xfrm>
          <a:prstGeom prst="roundRect">
            <a:avLst/>
          </a:prstGeom>
          <a:solidFill>
            <a:srgbClr val="00224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3840480"/>
            <a:ext cx="1463040" cy="914400"/>
          </a:xfrm>
          <a:prstGeom prst="rect">
            <a:avLst/>
          </a:prstGeom>
          <a:noFill/>
        </p:spPr>
        <p:txBody>
          <a:bodyPr wrap="square" lIns="0" tIns="0" bIns="0" rIns="0">
            <a:spAutoFit/>
          </a:bodyPr>
          <a:lstStyle/>
          <a:p>
            <a:pPr>
              <a:spcAft>
                <a:spcPts val="600"/>
              </a:spcAft>
              <a:defRPr sz="1400" b="1">
                <a:solidFill>
                  <a:srgbClr val="00BAF2"/>
                </a:solidFill>
                <a:latin typeface="Segoe UI"/>
              </a:defRPr>
            </a:pPr>
            <a:r>
              <a:t>Audited Action</a:t>
            </a:r>
          </a:p>
          <a:p>
            <a:pPr>
              <a:spcAft>
                <a:spcPts val="400"/>
              </a:spcAft>
              <a:defRPr sz="1200">
                <a:solidFill>
                  <a:srgbClr val="FFFFFF"/>
                </a:solidFill>
                <a:latin typeface="Segoe UI"/>
              </a:defRPr>
            </a:pPr>
            <a:r>
              <a:t>• Strict phone approvals &amp; token locks</a:t>
            </a:r>
          </a:p>
        </p:txBody>
      </p:sp>
      <p:sp>
        <p:nvSpPr>
          <p:cNvPr id="10" name="TextBox 9"/>
          <p:cNvSpPr txBox="1"/>
          <p:nvPr/>
        </p:nvSpPr>
        <p:spPr>
          <a:xfrm>
            <a:off x="731520" y="5394960"/>
            <a:ext cx="6217920" cy="731520"/>
          </a:xfrm>
          <a:prstGeom prst="rect">
            <a:avLst/>
          </a:prstGeom>
          <a:noFill/>
        </p:spPr>
        <p:txBody>
          <a:bodyPr wrap="none">
            <a:spAutoFit/>
          </a:bodyPr>
          <a:lstStyle/>
          <a:p>
            <a:pPr>
              <a:defRPr sz="1100">
                <a:solidFill>
                  <a:srgbClr val="94A3B8"/>
                </a:solidFill>
                <a:latin typeface="Segoe UI"/>
              </a:defRPr>
            </a:pPr>
            <a:r>
              <a:t>Paytm AI Partner Hackathon 2026  •  Team: [TEAM NAME]</a:t>
            </a:r>
            <a:br/>
            <a:r>
              <a:t>Persona: Sharma Chai &amp; Snacks, Jaipur (Default Merchant)</a:t>
            </a:r>
          </a:p>
        </p:txBody>
      </p:sp>
      <p:pic>
        <p:nvPicPr>
          <p:cNvPr id="11" name="Picture 10" descr="soundbox_split.png"/>
          <p:cNvPicPr>
            <a:picLocks noChangeAspect="1"/>
          </p:cNvPicPr>
          <p:nvPr/>
        </p:nvPicPr>
        <p:blipFill>
          <a:blip r:embed="rId2"/>
          <a:stretch>
            <a:fillRect/>
          </a:stretch>
        </p:blipFill>
        <p:spPr>
          <a:xfrm>
            <a:off x="7132320" y="1097280"/>
            <a:ext cx="4389120" cy="2821577"/>
          </a:xfrm>
          <a:prstGeom prst="rect">
            <a:avLst/>
          </a:prstGeom>
        </p:spPr>
      </p:pic>
      <p:sp>
        <p:nvSpPr>
          <p:cNvPr id="12" name="Rounded Rectangle 11"/>
          <p:cNvSpPr/>
          <p:nvPr/>
        </p:nvSpPr>
        <p:spPr>
          <a:xfrm>
            <a:off x="7132320" y="731520"/>
            <a:ext cx="1280160" cy="2743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0" tIns="0" bIns="0" rIns="0"/>
          <a:lstStyle/>
          <a:p>
            <a:pPr algn="ctr">
              <a:defRPr sz="850" b="1">
                <a:solidFill>
                  <a:srgbClr val="B45309"/>
                </a:solidFill>
                <a:latin typeface="Segoe UI"/>
              </a:defRPr>
            </a:pPr>
            <a:r>
              <a:t>⚡ SIMULATED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THE PROBLEM</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002E6E"/>
                </a:solidFill>
                <a:latin typeface="Segoe UI"/>
              </a:defRPr>
            </a:pPr>
            <a:r>
              <a:t>Micro-Merchants Bleed Profit in the Blind Spots of Daily Trade</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475569"/>
                </a:solidFill>
                <a:latin typeface="Segoe UI"/>
              </a:defRPr>
            </a:pPr>
            <a:r>
              <a:t>Sharma Ji runs a busy tea stall in Jaipur. He sees crowds and hears Soundbox pings, but remains blind to true profits and growth.</a:t>
            </a:r>
          </a:p>
        </p:txBody>
      </p:sp>
      <p:sp>
        <p:nvSpPr>
          <p:cNvPr id="6" name="Rounded Rectangle 5"/>
          <p:cNvSpPr/>
          <p:nvPr/>
        </p:nvSpPr>
        <p:spPr>
          <a:xfrm>
            <a:off x="731520" y="182880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2834640" cy="4023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Unnoticed Footfall Lulls</a:t>
            </a:r>
          </a:p>
          <a:p>
            <a:pPr>
              <a:spcAft>
                <a:spcPts val="400"/>
              </a:spcAft>
              <a:defRPr sz="1200">
                <a:solidFill>
                  <a:srgbClr val="0F172A"/>
                </a:solidFill>
                <a:latin typeface="Segoe UI"/>
              </a:defRPr>
            </a:pPr>
            <a:r>
              <a:t>• Planted Story 1: Tuesday afternoons between 2 PM and 5 PM, footfall crashes by 85%.</a:t>
            </a:r>
          </a:p>
          <a:p>
            <a:pPr>
              <a:spcAft>
                <a:spcPts val="400"/>
              </a:spcAft>
              <a:defRPr sz="1200">
                <a:solidFill>
                  <a:srgbClr val="0F172A"/>
                </a:solidFill>
                <a:latin typeface="Segoe UI"/>
              </a:defRPr>
            </a:pPr>
            <a:r>
              <a:t>• Stall sits idle while fixed rent and staff costs continue burning.</a:t>
            </a:r>
          </a:p>
          <a:p>
            <a:pPr>
              <a:spcAft>
                <a:spcPts val="400"/>
              </a:spcAft>
              <a:defRPr sz="1200">
                <a:solidFill>
                  <a:srgbClr val="0F172A"/>
                </a:solidFill>
                <a:latin typeface="Segoe UI"/>
              </a:defRPr>
            </a:pPr>
            <a:r>
              <a:t>• Merchants lack historical hourly velocity data to know when to launch targeted offers.</a:t>
            </a:r>
          </a:p>
          <a:p>
            <a:pPr>
              <a:spcAft>
                <a:spcPts val="400"/>
              </a:spcAft>
              <a:defRPr sz="1200">
                <a:solidFill>
                  <a:srgbClr val="0F172A"/>
                </a:solidFill>
                <a:latin typeface="Segoe UI"/>
              </a:defRPr>
            </a:pPr>
            <a:r>
              <a:t>• Result: Up to ₹1,800 lost in recoverable dead-slot revenue each week.</a:t>
            </a:r>
          </a:p>
        </p:txBody>
      </p:sp>
      <p:sp>
        <p:nvSpPr>
          <p:cNvPr id="8" name="Rounded Rectangle 7"/>
          <p:cNvSpPr/>
          <p:nvPr/>
        </p:nvSpPr>
        <p:spPr>
          <a:xfrm>
            <a:off x="4297680" y="182880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011680"/>
            <a:ext cx="2834640" cy="4023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Unreconciled Cash &amp; Udhaar</a:t>
            </a:r>
          </a:p>
          <a:p>
            <a:pPr>
              <a:spcAft>
                <a:spcPts val="400"/>
              </a:spcAft>
              <a:defRPr sz="1200">
                <a:solidFill>
                  <a:srgbClr val="0F172A"/>
                </a:solidFill>
                <a:latin typeface="Segoe UI"/>
              </a:defRPr>
            </a:pPr>
            <a:r>
              <a:t>• Planted Story 6: ₹1,650 locked in informal paper udhaar across loose diary pages.</a:t>
            </a:r>
          </a:p>
          <a:p>
            <a:pPr>
              <a:spcAft>
                <a:spcPts val="400"/>
              </a:spcAft>
              <a:defRPr sz="1200">
                <a:solidFill>
                  <a:srgbClr val="0F172A"/>
                </a:solidFill>
                <a:latin typeface="Segoe UI"/>
              </a:defRPr>
            </a:pPr>
            <a:r>
              <a:t>• Two customers overdue &gt;15 days; merchant hesitates to ask bluntly for fear of losing goodwill.</a:t>
            </a:r>
          </a:p>
          <a:p>
            <a:pPr>
              <a:spcAft>
                <a:spcPts val="400"/>
              </a:spcAft>
              <a:defRPr sz="1200">
                <a:solidFill>
                  <a:srgbClr val="0F172A"/>
                </a:solidFill>
                <a:latin typeface="Segoe UI"/>
              </a:defRPr>
            </a:pPr>
            <a:r>
              <a:t>• Cash collections and milk/gas expenses are never merged with UPI streams.</a:t>
            </a:r>
          </a:p>
          <a:p>
            <a:pPr>
              <a:spcAft>
                <a:spcPts val="400"/>
              </a:spcAft>
              <a:defRPr sz="1200">
                <a:solidFill>
                  <a:srgbClr val="0F172A"/>
                </a:solidFill>
                <a:latin typeface="Segoe UI"/>
              </a:defRPr>
            </a:pPr>
            <a:r>
              <a:t>• Result: Merchant doesn't know today's actual take-home net profit.</a:t>
            </a:r>
          </a:p>
        </p:txBody>
      </p:sp>
      <p:sp>
        <p:nvSpPr>
          <p:cNvPr id="10" name="Rounded Rectangle 9"/>
          <p:cNvSpPr/>
          <p:nvPr/>
        </p:nvSpPr>
        <p:spPr>
          <a:xfrm>
            <a:off x="7863840" y="1828800"/>
            <a:ext cx="356616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011680"/>
            <a:ext cx="3108960" cy="4023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Zero POS Billing Records</a:t>
            </a:r>
          </a:p>
          <a:p>
            <a:pPr>
              <a:spcAft>
                <a:spcPts val="400"/>
              </a:spcAft>
              <a:defRPr sz="1200">
                <a:solidFill>
                  <a:srgbClr val="0F172A"/>
                </a:solidFill>
                <a:latin typeface="Segoe UI"/>
              </a:defRPr>
            </a:pPr>
            <a:r>
              <a:t>• Chai stalls and street vendors will never buy expensive barcode billing machines.</a:t>
            </a:r>
          </a:p>
          <a:p>
            <a:pPr>
              <a:spcAft>
                <a:spcPts val="400"/>
              </a:spcAft>
              <a:defRPr sz="1200">
                <a:solidFill>
                  <a:srgbClr val="0F172A"/>
                </a:solidFill>
                <a:latin typeface="Segoe UI"/>
              </a:defRPr>
            </a:pPr>
            <a:r>
              <a:t>• Fintech apps see only raw transaction amounts (₹10, ₹20, ₹40), not actual items.</a:t>
            </a:r>
          </a:p>
          <a:p>
            <a:pPr>
              <a:spcAft>
                <a:spcPts val="400"/>
              </a:spcAft>
              <a:defRPr sz="1200">
                <a:solidFill>
                  <a:srgbClr val="0F172A"/>
                </a:solidFill>
                <a:latin typeface="Segoe UI"/>
              </a:defRPr>
            </a:pPr>
            <a:r>
              <a:t>• No visibility into high-margin items (e.g. ₹40 Kulhad Chai has 68% margin but 4% volume).</a:t>
            </a:r>
          </a:p>
          <a:p>
            <a:pPr>
              <a:spcAft>
                <a:spcPts val="400"/>
              </a:spcAft>
              <a:defRPr sz="1200">
                <a:solidFill>
                  <a:srgbClr val="0F172A"/>
                </a:solidFill>
                <a:latin typeface="Segoe UI"/>
              </a:defRPr>
            </a:pPr>
            <a:r>
              <a:t>• Placeholder: [ADD REAL MERCHANT QUOTE IF PROVIDED]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MARKET GAP</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002E6E"/>
                </a:solidFill>
                <a:latin typeface="Segoe UI"/>
              </a:defRPr>
            </a:pPr>
            <a:r>
              <a:t>Dashboards Demand Time &amp; Literacy; Generic Bots Answer But Never Act</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475569"/>
                </a:solidFill>
                <a:latin typeface="Segoe UI"/>
              </a:defRPr>
            </a:pPr>
            <a:r>
              <a:t>Current merchant solutions fail single-operator micro-merchants who work 14-hour days on their feet.</a:t>
            </a:r>
          </a:p>
        </p:txBody>
      </p:sp>
      <p:sp>
        <p:nvSpPr>
          <p:cNvPr id="6" name="Rounded Rectangle 5"/>
          <p:cNvSpPr/>
          <p:nvPr/>
        </p:nvSpPr>
        <p:spPr>
          <a:xfrm>
            <a:off x="731520" y="1920240"/>
            <a:ext cx="329184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2834640" cy="3840480"/>
          </a:xfrm>
          <a:prstGeom prst="rect">
            <a:avLst/>
          </a:prstGeom>
          <a:noFill/>
        </p:spPr>
        <p:txBody>
          <a:bodyPr wrap="square" lIns="0" tIns="0" bIns="0" rIns="0">
            <a:spAutoFit/>
          </a:bodyPr>
          <a:lstStyle/>
          <a:p>
            <a:pPr>
              <a:spcAft>
                <a:spcPts val="600"/>
              </a:spcAft>
              <a:defRPr sz="1400" b="1">
                <a:solidFill>
                  <a:srgbClr val="002E6E"/>
                </a:solidFill>
                <a:latin typeface="Segoe UI"/>
              </a:defRPr>
            </a:pPr>
            <a:r>
              <a:t>Legacy Merchant Dashboards</a:t>
            </a:r>
          </a:p>
          <a:p>
            <a:pPr>
              <a:spcAft>
                <a:spcPts val="400"/>
              </a:spcAft>
              <a:defRPr sz="1200">
                <a:solidFill>
                  <a:srgbClr val="0F172A"/>
                </a:solidFill>
                <a:latin typeface="Segoe UI"/>
              </a:defRPr>
            </a:pPr>
            <a:r>
              <a:t>• Require analytical literacy and desktop/app navigation.</a:t>
            </a:r>
          </a:p>
          <a:p>
            <a:pPr>
              <a:spcAft>
                <a:spcPts val="400"/>
              </a:spcAft>
              <a:defRPr sz="1200">
                <a:solidFill>
                  <a:srgbClr val="0F172A"/>
                </a:solidFill>
                <a:latin typeface="Segoe UI"/>
              </a:defRPr>
            </a:pPr>
            <a:r>
              <a:t>• Buried in tabs and complex time-series charts.</a:t>
            </a:r>
          </a:p>
          <a:p>
            <a:pPr>
              <a:spcAft>
                <a:spcPts val="400"/>
              </a:spcAft>
              <a:defRPr sz="1200">
                <a:solidFill>
                  <a:srgbClr val="0F172A"/>
                </a:solidFill>
                <a:latin typeface="Segoe UI"/>
              </a:defRPr>
            </a:pPr>
            <a:r>
              <a:t>• Passive reporting: informs what happened yesterday, but suggests no action.</a:t>
            </a:r>
          </a:p>
          <a:p>
            <a:pPr>
              <a:spcAft>
                <a:spcPts val="400"/>
              </a:spcAft>
              <a:defRPr sz="1200">
                <a:solidFill>
                  <a:srgbClr val="0F172A"/>
                </a:solidFill>
                <a:latin typeface="Segoe UI"/>
              </a:defRPr>
            </a:pPr>
            <a:r>
              <a:t>• Excludes offline cash and udhaar completely.</a:t>
            </a:r>
          </a:p>
        </p:txBody>
      </p:sp>
      <p:sp>
        <p:nvSpPr>
          <p:cNvPr id="8" name="Rounded Rectangle 7"/>
          <p:cNvSpPr/>
          <p:nvPr/>
        </p:nvSpPr>
        <p:spPr>
          <a:xfrm>
            <a:off x="4297680" y="1920240"/>
            <a:ext cx="3291840" cy="4206240"/>
          </a:xfrm>
          <a:prstGeom prst="roundRect">
            <a:avLst/>
          </a:prstGeom>
          <a:solidFill>
            <a:srgbClr val="FFFFFF"/>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103120"/>
            <a:ext cx="2834640" cy="3840480"/>
          </a:xfrm>
          <a:prstGeom prst="rect">
            <a:avLst/>
          </a:prstGeom>
          <a:noFill/>
        </p:spPr>
        <p:txBody>
          <a:bodyPr wrap="square" lIns="0" tIns="0" bIns="0" rIns="0">
            <a:spAutoFit/>
          </a:bodyPr>
          <a:lstStyle/>
          <a:p>
            <a:pPr>
              <a:spcAft>
                <a:spcPts val="600"/>
              </a:spcAft>
              <a:defRPr sz="1400" b="1">
                <a:solidFill>
                  <a:srgbClr val="002E6E"/>
                </a:solidFill>
                <a:latin typeface="Segoe UI"/>
              </a:defRPr>
            </a:pPr>
            <a:r>
              <a:t>Generic AI Chatbots</a:t>
            </a:r>
          </a:p>
          <a:p>
            <a:pPr>
              <a:spcAft>
                <a:spcPts val="400"/>
              </a:spcAft>
              <a:defRPr sz="1200">
                <a:solidFill>
                  <a:srgbClr val="0F172A"/>
                </a:solidFill>
                <a:latin typeface="Segoe UI"/>
              </a:defRPr>
            </a:pPr>
            <a:r>
              <a:t>• Prone to arithmetic hallucinations when adding sums or discounts.</a:t>
            </a:r>
          </a:p>
          <a:p>
            <a:pPr>
              <a:spcAft>
                <a:spcPts val="400"/>
              </a:spcAft>
              <a:defRPr sz="1200">
                <a:solidFill>
                  <a:srgbClr val="0F172A"/>
                </a:solidFill>
                <a:latin typeface="Segoe UI"/>
              </a:defRPr>
            </a:pPr>
            <a:r>
              <a:t>• Have no access to real transaction feeds or countertop context.</a:t>
            </a:r>
          </a:p>
          <a:p>
            <a:pPr>
              <a:spcAft>
                <a:spcPts val="400"/>
              </a:spcAft>
              <a:defRPr sz="1200">
                <a:solidFill>
                  <a:srgbClr val="0F172A"/>
                </a:solidFill>
                <a:latin typeface="Segoe UI"/>
              </a:defRPr>
            </a:pPr>
            <a:r>
              <a:t>• Conversational dead-ends: can draft text, but cannot trigger banking or messaging rails.</a:t>
            </a:r>
          </a:p>
          <a:p>
            <a:pPr>
              <a:spcAft>
                <a:spcPts val="400"/>
              </a:spcAft>
              <a:defRPr sz="1200">
                <a:solidFill>
                  <a:srgbClr val="0F172A"/>
                </a:solidFill>
                <a:latin typeface="Segoe UI"/>
              </a:defRPr>
            </a:pPr>
            <a:r>
              <a:t>• Lack risk guardrails against unauthorized money movement.</a:t>
            </a:r>
          </a:p>
        </p:txBody>
      </p:sp>
      <p:sp>
        <p:nvSpPr>
          <p:cNvPr id="10" name="Rounded Rectangle 9"/>
          <p:cNvSpPr/>
          <p:nvPr/>
        </p:nvSpPr>
        <p:spPr>
          <a:xfrm>
            <a:off x="7863840" y="1920240"/>
            <a:ext cx="3566160" cy="4206240"/>
          </a:xfrm>
          <a:prstGeom prst="roundRect">
            <a:avLst/>
          </a:prstGeom>
          <a:solidFill>
            <a:srgbClr val="FFFFFF"/>
          </a:solidFill>
          <a:ln w="1905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103120"/>
            <a:ext cx="3108960" cy="3840480"/>
          </a:xfrm>
          <a:prstGeom prst="rect">
            <a:avLst/>
          </a:prstGeom>
          <a:noFill/>
        </p:spPr>
        <p:txBody>
          <a:bodyPr wrap="square" lIns="0" tIns="0" bIns="0" rIns="0">
            <a:spAutoFit/>
          </a:bodyPr>
          <a:lstStyle/>
          <a:p>
            <a:pPr>
              <a:spcAft>
                <a:spcPts val="600"/>
              </a:spcAft>
              <a:defRPr sz="1400" b="1">
                <a:solidFill>
                  <a:srgbClr val="002E6E"/>
                </a:solidFill>
                <a:latin typeface="Segoe UI"/>
              </a:defRPr>
            </a:pPr>
            <a:r>
              <a:t>Munim: Voice Partner</a:t>
            </a:r>
          </a:p>
          <a:p>
            <a:pPr>
              <a:spcAft>
                <a:spcPts val="400"/>
              </a:spcAft>
              <a:defRPr sz="1200">
                <a:solidFill>
                  <a:srgbClr val="0F172A"/>
                </a:solidFill>
                <a:latin typeface="Segoe UI"/>
              </a:defRPr>
            </a:pPr>
            <a:r>
              <a:t>• Voice-first: 10-second morning audio brief on Soundbox; 1-tap phone approval.</a:t>
            </a:r>
          </a:p>
          <a:p>
            <a:pPr>
              <a:spcAft>
                <a:spcPts val="400"/>
              </a:spcAft>
              <a:defRPr sz="1200">
                <a:solidFill>
                  <a:srgbClr val="0F172A"/>
                </a:solidFill>
                <a:latin typeface="Segoe UI"/>
              </a:defRPr>
            </a:pPr>
            <a:r>
              <a:t>• Deterministic intelligence: Zero arithmetic in LLM; 100% verified math safety.</a:t>
            </a:r>
          </a:p>
          <a:p>
            <a:pPr>
              <a:spcAft>
                <a:spcPts val="400"/>
              </a:spcAft>
              <a:defRPr sz="1200">
                <a:solidFill>
                  <a:srgbClr val="0F172A"/>
                </a:solidFill>
                <a:latin typeface="Segoe UI"/>
              </a:defRPr>
            </a:pPr>
            <a:r>
              <a:t>• Closed-loop action: drafts campaign, announces prompt, sends via Paytm rails.</a:t>
            </a:r>
          </a:p>
          <a:p>
            <a:pPr>
              <a:spcAft>
                <a:spcPts val="400"/>
              </a:spcAft>
              <a:defRPr sz="1200">
                <a:solidFill>
                  <a:srgbClr val="0F172A"/>
                </a:solidFill>
                <a:latin typeface="Segoe UI"/>
              </a:defRPr>
            </a:pPr>
            <a:r>
              <a:t>• Measures true uplift against an 80/20 customer holdout group.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THE SOLUTION</a:t>
            </a:r>
          </a:p>
        </p:txBody>
      </p:sp>
      <p:sp>
        <p:nvSpPr>
          <p:cNvPr id="4" name="TextBox 3"/>
          <p:cNvSpPr txBox="1"/>
          <p:nvPr/>
        </p:nvSpPr>
        <p:spPr>
          <a:xfrm>
            <a:off x="731520" y="731520"/>
            <a:ext cx="6583680" cy="640080"/>
          </a:xfrm>
          <a:prstGeom prst="rect">
            <a:avLst/>
          </a:prstGeom>
          <a:noFill/>
        </p:spPr>
        <p:txBody>
          <a:bodyPr wrap="square" lIns="0" tIns="0" bIns="0" rIns="0">
            <a:spAutoFit/>
          </a:bodyPr>
          <a:lstStyle/>
          <a:p>
            <a:pPr>
              <a:defRPr sz="2200" b="1">
                <a:solidFill>
                  <a:srgbClr val="002E6E"/>
                </a:solidFill>
                <a:latin typeface="Segoe UI"/>
              </a:defRPr>
            </a:pPr>
            <a:r>
              <a:t>The Closed-Loop AI Partner: Understand, Recommend, Act, Measure</a:t>
            </a:r>
          </a:p>
        </p:txBody>
      </p:sp>
      <p:sp>
        <p:nvSpPr>
          <p:cNvPr id="5" name="TextBox 4"/>
          <p:cNvSpPr txBox="1"/>
          <p:nvPr/>
        </p:nvSpPr>
        <p:spPr>
          <a:xfrm>
            <a:off x="731520" y="1371600"/>
            <a:ext cx="6583680" cy="411480"/>
          </a:xfrm>
          <a:prstGeom prst="rect">
            <a:avLst/>
          </a:prstGeom>
          <a:noFill/>
        </p:spPr>
        <p:txBody>
          <a:bodyPr wrap="square" lIns="0" tIns="0" bIns="0" rIns="0">
            <a:spAutoFit/>
          </a:bodyPr>
          <a:lstStyle/>
          <a:p>
            <a:pPr>
              <a:defRPr sz="1200">
                <a:solidFill>
                  <a:srgbClr val="475569"/>
                </a:solidFill>
                <a:latin typeface="Segoe UI"/>
              </a:defRPr>
            </a:pPr>
            <a:r>
              <a:t>Munim continuously observes countertop velocity, identifies growth opportunities, and measures real uplift.</a:t>
            </a:r>
          </a:p>
        </p:txBody>
      </p:sp>
      <p:sp>
        <p:nvSpPr>
          <p:cNvPr id="6" name="Rounded Rectangle 5"/>
          <p:cNvSpPr/>
          <p:nvPr/>
        </p:nvSpPr>
        <p:spPr>
          <a:xfrm>
            <a:off x="731520" y="1920240"/>
            <a:ext cx="640080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5943600" cy="640080"/>
          </a:xfrm>
          <a:prstGeom prst="rect">
            <a:avLst/>
          </a:prstGeom>
          <a:noFill/>
        </p:spPr>
        <p:txBody>
          <a:bodyPr wrap="square" lIns="0" tIns="0" bIns="0" rIns="0">
            <a:spAutoFit/>
          </a:bodyPr>
          <a:lstStyle/>
          <a:p>
            <a:pPr>
              <a:spcAft>
                <a:spcPts val="600"/>
              </a:spcAft>
              <a:defRPr sz="1400" b="1">
                <a:solidFill>
                  <a:srgbClr val="002E6E"/>
                </a:solidFill>
                <a:latin typeface="Segoe UI"/>
              </a:defRPr>
            </a:pPr>
            <a:r>
              <a:t>1. UNDERSTAND: Algorithmic Business Discovery</a:t>
            </a:r>
          </a:p>
          <a:p>
            <a:pPr>
              <a:spcAft>
                <a:spcPts val="400"/>
              </a:spcAft>
              <a:defRPr sz="1100">
                <a:solidFill>
                  <a:srgbClr val="0F172A"/>
                </a:solidFill>
                <a:latin typeface="Segoe UI"/>
              </a:defRPr>
            </a:pPr>
            <a:r>
              <a:t>• Clusters payment streams into menu items without POS; calculates hourly footfall velocity baselines.</a:t>
            </a:r>
          </a:p>
        </p:txBody>
      </p:sp>
      <p:sp>
        <p:nvSpPr>
          <p:cNvPr id="8" name="Rounded Rectangle 7"/>
          <p:cNvSpPr/>
          <p:nvPr/>
        </p:nvSpPr>
        <p:spPr>
          <a:xfrm>
            <a:off x="731520" y="3063240"/>
            <a:ext cx="640080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246120"/>
            <a:ext cx="5943600" cy="640080"/>
          </a:xfrm>
          <a:prstGeom prst="rect">
            <a:avLst/>
          </a:prstGeom>
          <a:noFill/>
        </p:spPr>
        <p:txBody>
          <a:bodyPr wrap="square" lIns="0" tIns="0" bIns="0" rIns="0">
            <a:spAutoFit/>
          </a:bodyPr>
          <a:lstStyle/>
          <a:p>
            <a:pPr>
              <a:spcAft>
                <a:spcPts val="600"/>
              </a:spcAft>
              <a:defRPr sz="1400" b="1">
                <a:solidFill>
                  <a:srgbClr val="002E6E"/>
                </a:solidFill>
                <a:latin typeface="Segoe UI"/>
              </a:defRPr>
            </a:pPr>
            <a:r>
              <a:t>2. RECOMMEND: Opportunity &amp; Anomaly Detection</a:t>
            </a:r>
          </a:p>
          <a:p>
            <a:pPr>
              <a:spcAft>
                <a:spcPts val="400"/>
              </a:spcAft>
              <a:defRPr sz="1100">
                <a:solidFill>
                  <a:srgbClr val="0F172A"/>
                </a:solidFill>
                <a:latin typeface="Segoe UI"/>
              </a:defRPr>
            </a:pPr>
            <a:r>
              <a:t>• Spots dead slots (Tue 2-5 PM), overdue udhaar, and high-margin upsells; suppresses external weather dips.</a:t>
            </a:r>
          </a:p>
        </p:txBody>
      </p:sp>
      <p:sp>
        <p:nvSpPr>
          <p:cNvPr id="10" name="Rounded Rectangle 9"/>
          <p:cNvSpPr/>
          <p:nvPr/>
        </p:nvSpPr>
        <p:spPr>
          <a:xfrm>
            <a:off x="731520" y="4206240"/>
            <a:ext cx="640080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89120"/>
            <a:ext cx="5943600" cy="640080"/>
          </a:xfrm>
          <a:prstGeom prst="rect">
            <a:avLst/>
          </a:prstGeom>
          <a:noFill/>
        </p:spPr>
        <p:txBody>
          <a:bodyPr wrap="square" lIns="0" tIns="0" bIns="0" rIns="0">
            <a:spAutoFit/>
          </a:bodyPr>
          <a:lstStyle/>
          <a:p>
            <a:pPr>
              <a:spcAft>
                <a:spcPts val="600"/>
              </a:spcAft>
              <a:defRPr sz="1400" b="1">
                <a:solidFill>
                  <a:srgbClr val="002E6E"/>
                </a:solidFill>
                <a:latin typeface="Segoe UI"/>
              </a:defRPr>
            </a:pPr>
            <a:r>
              <a:t>3. ACT: Countertop Alert &amp; One-Tap Phone Approval</a:t>
            </a:r>
          </a:p>
          <a:p>
            <a:pPr>
              <a:spcAft>
                <a:spcPts val="400"/>
              </a:spcAft>
              <a:defRPr sz="1100">
                <a:solidFill>
                  <a:srgbClr val="0F172A"/>
                </a:solidFill>
                <a:latin typeface="Segoe UI"/>
              </a:defRPr>
            </a:pPr>
            <a:r>
              <a:t>• Soundbox announces: 'Phone pe approve kar dijiye'; merchant reviews and approves Tier 2 card on mobile.</a:t>
            </a:r>
          </a:p>
        </p:txBody>
      </p:sp>
      <p:sp>
        <p:nvSpPr>
          <p:cNvPr id="12" name="Rounded Rectangle 11"/>
          <p:cNvSpPr/>
          <p:nvPr/>
        </p:nvSpPr>
        <p:spPr>
          <a:xfrm>
            <a:off x="731520" y="5349240"/>
            <a:ext cx="640080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532120"/>
            <a:ext cx="5943600" cy="640080"/>
          </a:xfrm>
          <a:prstGeom prst="rect">
            <a:avLst/>
          </a:prstGeom>
          <a:noFill/>
        </p:spPr>
        <p:txBody>
          <a:bodyPr wrap="square" lIns="0" tIns="0" bIns="0" rIns="0">
            <a:spAutoFit/>
          </a:bodyPr>
          <a:lstStyle/>
          <a:p>
            <a:pPr>
              <a:spcAft>
                <a:spcPts val="600"/>
              </a:spcAft>
              <a:defRPr sz="1400" b="1">
                <a:solidFill>
                  <a:srgbClr val="002E6E"/>
                </a:solidFill>
                <a:latin typeface="Segoe UI"/>
              </a:defRPr>
            </a:pPr>
            <a:r>
              <a:t>4. MEASURE: Counterfactual Uplift vs Holdout</a:t>
            </a:r>
          </a:p>
          <a:p>
            <a:pPr>
              <a:spcAft>
                <a:spcPts val="400"/>
              </a:spcAft>
              <a:defRPr sz="1100">
                <a:solidFill>
                  <a:srgbClr val="0F172A"/>
                </a:solidFill>
                <a:latin typeface="Segoe UI"/>
              </a:defRPr>
            </a:pPr>
            <a:r>
              <a:t>• Measures campaign conversion against an uncontacted 20% holdout group (+21.4% uplift simulated).</a:t>
            </a:r>
          </a:p>
        </p:txBody>
      </p:sp>
      <p:pic>
        <p:nvPicPr>
          <p:cNvPr id="14" name="Picture 13" descr="home.png"/>
          <p:cNvPicPr>
            <a:picLocks noChangeAspect="1"/>
          </p:cNvPicPr>
          <p:nvPr/>
        </p:nvPicPr>
        <p:blipFill>
          <a:blip r:embed="rId2"/>
          <a:stretch>
            <a:fillRect/>
          </a:stretch>
        </p:blipFill>
        <p:spPr>
          <a:xfrm>
            <a:off x="7589520" y="1463040"/>
            <a:ext cx="3260374" cy="4937760"/>
          </a:xfrm>
          <a:prstGeom prst="rect">
            <a:avLst/>
          </a:prstGeom>
        </p:spPr>
      </p:pic>
      <p:sp>
        <p:nvSpPr>
          <p:cNvPr id="15" name="Rounded Rectangle 14"/>
          <p:cNvSpPr/>
          <p:nvPr/>
        </p:nvSpPr>
        <p:spPr>
          <a:xfrm>
            <a:off x="7589520" y="1097280"/>
            <a:ext cx="1280160" cy="2743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0" tIns="0" bIns="0" rIns="0"/>
          <a:lstStyle/>
          <a:p>
            <a:pPr algn="ctr">
              <a:defRPr sz="850" b="1">
                <a:solidFill>
                  <a:srgbClr val="B45309"/>
                </a:solidFill>
                <a:latin typeface="Segoe UI"/>
              </a:defRPr>
            </a:pPr>
            <a:r>
              <a:t>⚡ SIMULATED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8"/>
          </a:solidFill>
          <a:ln>
            <a:solidFill>
              <a:srgbClr val="001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SYSTEM ARCHITECTURE</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FFFFFF"/>
                </a:solidFill>
                <a:latin typeface="Segoe UI"/>
              </a:defRPr>
            </a:pPr>
            <a:r>
              <a:t>Deterministic Intelligence Core with Token-Locked Execution Rails</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94A3B8"/>
                </a:solidFill>
                <a:latin typeface="Segoe UI"/>
              </a:defRPr>
            </a:pPr>
            <a:r>
              <a:t>Separating LLM reasoning from financial arithmetic, external adapters, and ground truth.</a:t>
            </a:r>
          </a:p>
        </p:txBody>
      </p:sp>
      <p:pic>
        <p:nvPicPr>
          <p:cNvPr id="6" name="Picture 5" descr="architecture.png"/>
          <p:cNvPicPr>
            <a:picLocks noChangeAspect="1"/>
          </p:cNvPicPr>
          <p:nvPr/>
        </p:nvPicPr>
        <p:blipFill>
          <a:blip r:embed="rId2"/>
          <a:stretch>
            <a:fillRect/>
          </a:stretch>
        </p:blipFill>
        <p:spPr>
          <a:xfrm>
            <a:off x="731520" y="1645920"/>
            <a:ext cx="10698480" cy="601789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DIFFERENTIATOR 1</a:t>
            </a:r>
          </a:p>
        </p:txBody>
      </p:sp>
      <p:sp>
        <p:nvSpPr>
          <p:cNvPr id="4" name="TextBox 3"/>
          <p:cNvSpPr txBox="1"/>
          <p:nvPr/>
        </p:nvSpPr>
        <p:spPr>
          <a:xfrm>
            <a:off x="731520" y="731520"/>
            <a:ext cx="6400800" cy="640080"/>
          </a:xfrm>
          <a:prstGeom prst="rect">
            <a:avLst/>
          </a:prstGeom>
          <a:noFill/>
        </p:spPr>
        <p:txBody>
          <a:bodyPr wrap="square" lIns="0" tIns="0" bIns="0" rIns="0">
            <a:spAutoFit/>
          </a:bodyPr>
          <a:lstStyle/>
          <a:p>
            <a:pPr>
              <a:defRPr sz="2200" b="1">
                <a:solidFill>
                  <a:srgbClr val="002E6E"/>
                </a:solidFill>
                <a:latin typeface="Segoe UI"/>
              </a:defRPr>
            </a:pPr>
            <a:r>
              <a:t>We Know What You Sell Without a POS Machine</a:t>
            </a:r>
          </a:p>
        </p:txBody>
      </p:sp>
      <p:sp>
        <p:nvSpPr>
          <p:cNvPr id="5" name="TextBox 4"/>
          <p:cNvSpPr txBox="1"/>
          <p:nvPr/>
        </p:nvSpPr>
        <p:spPr>
          <a:xfrm>
            <a:off x="731520" y="1371600"/>
            <a:ext cx="6400800" cy="411480"/>
          </a:xfrm>
          <a:prstGeom prst="rect">
            <a:avLst/>
          </a:prstGeom>
          <a:noFill/>
        </p:spPr>
        <p:txBody>
          <a:bodyPr wrap="square" lIns="0" tIns="0" bIns="0" rIns="0">
            <a:spAutoFit/>
          </a:bodyPr>
          <a:lstStyle/>
          <a:p>
            <a:pPr>
              <a:defRPr sz="1200">
                <a:solidFill>
                  <a:srgbClr val="475569"/>
                </a:solidFill>
                <a:latin typeface="Segoe UI"/>
              </a:defRPr>
            </a:pPr>
            <a:r>
              <a:t>Combinatorial subset decomposition infers the merchant's catalog from raw payment amounts with F1 = 1.0.</a:t>
            </a:r>
          </a:p>
        </p:txBody>
      </p:sp>
      <p:sp>
        <p:nvSpPr>
          <p:cNvPr id="6" name="Rounded Rectangle 5"/>
          <p:cNvSpPr/>
          <p:nvPr/>
        </p:nvSpPr>
        <p:spPr>
          <a:xfrm>
            <a:off x="731520" y="1920240"/>
            <a:ext cx="621792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5760720" cy="1005840"/>
          </a:xfrm>
          <a:prstGeom prst="rect">
            <a:avLst/>
          </a:prstGeom>
          <a:noFill/>
        </p:spPr>
        <p:txBody>
          <a:bodyPr wrap="square" lIns="0" tIns="0" bIns="0" rIns="0">
            <a:spAutoFit/>
          </a:bodyPr>
          <a:lstStyle/>
          <a:p>
            <a:pPr>
              <a:spcAft>
                <a:spcPts val="600"/>
              </a:spcAft>
              <a:defRPr sz="1400" b="1">
                <a:solidFill>
                  <a:srgbClr val="002E6E"/>
                </a:solidFill>
                <a:latin typeface="Segoe UI"/>
              </a:defRPr>
            </a:pPr>
            <a:r>
              <a:t>Algorithmic Price-Point Clustering</a:t>
            </a:r>
          </a:p>
          <a:p>
            <a:pPr>
              <a:spcAft>
                <a:spcPts val="400"/>
              </a:spcAft>
              <a:defRPr sz="1100">
                <a:solidFill>
                  <a:srgbClr val="0F172A"/>
                </a:solidFill>
                <a:latin typeface="Segoe UI"/>
              </a:defRPr>
            </a:pPr>
            <a:r>
              <a:t>• Gaussian Mixture Model &amp; frequency density clustering discover menu price points.</a:t>
            </a:r>
          </a:p>
          <a:p>
            <a:pPr>
              <a:spcAft>
                <a:spcPts val="400"/>
              </a:spcAft>
              <a:defRPr sz="1100">
                <a:solidFill>
                  <a:srgbClr val="0F172A"/>
                </a:solidFill>
                <a:latin typeface="Segoe UI"/>
              </a:defRPr>
            </a:pPr>
            <a:r>
              <a:t>• Recognizes that ₹10 = Masala Chai, ₹20 = Samosa, and ₹30 = Chai + Samosa combo.</a:t>
            </a:r>
          </a:p>
          <a:p>
            <a:pPr>
              <a:spcAft>
                <a:spcPts val="400"/>
              </a:spcAft>
              <a:defRPr sz="1100">
                <a:solidFill>
                  <a:srgbClr val="0F172A"/>
                </a:solidFill>
                <a:latin typeface="Segoe UI"/>
              </a:defRPr>
            </a:pPr>
            <a:r>
              <a:t>• Achieved 1.0 Precision, 1.0 Recall, and 1.0 F1 in eval benchmark without barcode POS.</a:t>
            </a:r>
          </a:p>
        </p:txBody>
      </p:sp>
      <p:sp>
        <p:nvSpPr>
          <p:cNvPr id="8" name="Rounded Rectangle 7"/>
          <p:cNvSpPr/>
          <p:nvPr/>
        </p:nvSpPr>
        <p:spPr>
          <a:xfrm>
            <a:off x="731520" y="3474720"/>
            <a:ext cx="621792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57600"/>
            <a:ext cx="5760720" cy="1005840"/>
          </a:xfrm>
          <a:prstGeom prst="rect">
            <a:avLst/>
          </a:prstGeom>
          <a:noFill/>
        </p:spPr>
        <p:txBody>
          <a:bodyPr wrap="square" lIns="0" tIns="0" bIns="0" rIns="0">
            <a:spAutoFit/>
          </a:bodyPr>
          <a:lstStyle/>
          <a:p>
            <a:pPr>
              <a:spcAft>
                <a:spcPts val="600"/>
              </a:spcAft>
              <a:defRPr sz="1400" b="1">
                <a:solidFill>
                  <a:srgbClr val="002E6E"/>
                </a:solidFill>
                <a:latin typeface="Segoe UI"/>
              </a:defRPr>
            </a:pPr>
            <a:r>
              <a:t>Bayesian Prior Confirmation Chips</a:t>
            </a:r>
          </a:p>
          <a:p>
            <a:pPr>
              <a:spcAft>
                <a:spcPts val="400"/>
              </a:spcAft>
              <a:defRPr sz="1100">
                <a:solidFill>
                  <a:srgbClr val="0F172A"/>
                </a:solidFill>
                <a:latin typeface="Segoe UI"/>
              </a:defRPr>
            </a:pPr>
            <a:r>
              <a:t>• Presents candidate items with confidence percentages (e.g. ₹20 = Samosa 88%).</a:t>
            </a:r>
          </a:p>
          <a:p>
            <a:pPr>
              <a:spcAft>
                <a:spcPts val="400"/>
              </a:spcAft>
              <a:defRPr sz="1100">
                <a:solidFill>
                  <a:srgbClr val="0F172A"/>
                </a:solidFill>
                <a:latin typeface="Segoe UI"/>
              </a:defRPr>
            </a:pPr>
            <a:r>
              <a:t>• One-tap merchant confirmation ('Sahi Hai') locks Bayesian prior to 1.0.</a:t>
            </a:r>
          </a:p>
          <a:p>
            <a:pPr>
              <a:spcAft>
                <a:spcPts val="400"/>
              </a:spcAft>
              <a:defRPr sz="1100">
                <a:solidFill>
                  <a:srgbClr val="0F172A"/>
                </a:solidFill>
                <a:latin typeface="Segoe UI"/>
              </a:defRPr>
            </a:pPr>
            <a:r>
              <a:t>• Enables high-margin product push without manual inventory catalog entry.</a:t>
            </a:r>
          </a:p>
        </p:txBody>
      </p:sp>
      <p:sp>
        <p:nvSpPr>
          <p:cNvPr id="10" name="Rounded Rectangle 9"/>
          <p:cNvSpPr/>
          <p:nvPr/>
        </p:nvSpPr>
        <p:spPr>
          <a:xfrm>
            <a:off x="731520" y="5029200"/>
            <a:ext cx="621792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212080"/>
            <a:ext cx="5760720" cy="914400"/>
          </a:xfrm>
          <a:prstGeom prst="rect">
            <a:avLst/>
          </a:prstGeom>
          <a:noFill/>
        </p:spPr>
        <p:txBody>
          <a:bodyPr wrap="square" lIns="0" tIns="0" bIns="0" rIns="0">
            <a:spAutoFit/>
          </a:bodyPr>
          <a:lstStyle/>
          <a:p>
            <a:pPr>
              <a:spcAft>
                <a:spcPts val="600"/>
              </a:spcAft>
              <a:defRPr sz="1400" b="1">
                <a:solidFill>
                  <a:srgbClr val="002E6E"/>
                </a:solidFill>
                <a:latin typeface="Segoe UI"/>
              </a:defRPr>
            </a:pPr>
            <a:r>
              <a:t>Strict Ground-Truth Sequestration</a:t>
            </a:r>
          </a:p>
          <a:p>
            <a:pPr>
              <a:spcAft>
                <a:spcPts val="400"/>
              </a:spcAft>
              <a:defRPr sz="1100">
                <a:solidFill>
                  <a:srgbClr val="0F172A"/>
                </a:solidFill>
                <a:latin typeface="Segoe UI"/>
              </a:defRPr>
            </a:pPr>
            <a:r>
              <a:t>• Algorithm operates entirely blind to true catalog in isolated ground_truth.db.</a:t>
            </a:r>
          </a:p>
          <a:p>
            <a:pPr>
              <a:spcAft>
                <a:spcPts val="400"/>
              </a:spcAft>
              <a:defRPr sz="1100">
                <a:solidFill>
                  <a:srgbClr val="0F172A"/>
                </a:solidFill>
                <a:latin typeface="Segoe UI"/>
              </a:defRPr>
            </a:pPr>
            <a:r>
              <a:t>• Verified via static AST scanner test: zero code imports or queries of ground truth.</a:t>
            </a:r>
          </a:p>
        </p:txBody>
      </p:sp>
      <p:pic>
        <p:nvPicPr>
          <p:cNvPr id="12" name="Picture 11" descr="what_i_sell.png"/>
          <p:cNvPicPr>
            <a:picLocks noChangeAspect="1"/>
          </p:cNvPicPr>
          <p:nvPr/>
        </p:nvPicPr>
        <p:blipFill>
          <a:blip r:embed="rId2"/>
          <a:stretch>
            <a:fillRect/>
          </a:stretch>
        </p:blipFill>
        <p:spPr>
          <a:xfrm>
            <a:off x="7315200" y="1463040"/>
            <a:ext cx="3260374" cy="49377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DIFFERENTIATOR 2</a:t>
            </a:r>
          </a:p>
        </p:txBody>
      </p:sp>
      <p:sp>
        <p:nvSpPr>
          <p:cNvPr id="4" name="TextBox 3"/>
          <p:cNvSpPr txBox="1"/>
          <p:nvPr/>
        </p:nvSpPr>
        <p:spPr>
          <a:xfrm>
            <a:off x="731520" y="731520"/>
            <a:ext cx="6400800" cy="640080"/>
          </a:xfrm>
          <a:prstGeom prst="rect">
            <a:avLst/>
          </a:prstGeom>
          <a:noFill/>
        </p:spPr>
        <p:txBody>
          <a:bodyPr wrap="square" lIns="0" tIns="0" bIns="0" rIns="0">
            <a:spAutoFit/>
          </a:bodyPr>
          <a:lstStyle/>
          <a:p>
            <a:pPr>
              <a:defRPr sz="2200" b="1">
                <a:solidFill>
                  <a:srgbClr val="002E6E"/>
                </a:solidFill>
                <a:latin typeface="Segoe UI"/>
              </a:defRPr>
            </a:pPr>
            <a:r>
              <a:t>A 10-Second Voice Ritual Delivers True Daily Net Profit</a:t>
            </a:r>
          </a:p>
        </p:txBody>
      </p:sp>
      <p:sp>
        <p:nvSpPr>
          <p:cNvPr id="5" name="TextBox 4"/>
          <p:cNvSpPr txBox="1"/>
          <p:nvPr/>
        </p:nvSpPr>
        <p:spPr>
          <a:xfrm>
            <a:off x="731520" y="1371600"/>
            <a:ext cx="6400800" cy="411480"/>
          </a:xfrm>
          <a:prstGeom prst="rect">
            <a:avLst/>
          </a:prstGeom>
          <a:noFill/>
        </p:spPr>
        <p:txBody>
          <a:bodyPr wrap="square" lIns="0" tIns="0" bIns="0" rIns="0">
            <a:spAutoFit/>
          </a:bodyPr>
          <a:lstStyle/>
          <a:p>
            <a:pPr>
              <a:defRPr sz="1200">
                <a:solidFill>
                  <a:srgbClr val="475569"/>
                </a:solidFill>
                <a:latin typeface="Segoe UI"/>
              </a:defRPr>
            </a:pPr>
            <a:r>
              <a:t>Nightly conversational check-in captures cash collections, supplier expenses, and aging udhaar.</a:t>
            </a:r>
          </a:p>
        </p:txBody>
      </p:sp>
      <p:sp>
        <p:nvSpPr>
          <p:cNvPr id="6" name="Rounded Rectangle 5"/>
          <p:cNvSpPr/>
          <p:nvPr/>
        </p:nvSpPr>
        <p:spPr>
          <a:xfrm>
            <a:off x="731520" y="1920240"/>
            <a:ext cx="621792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5760720" cy="1005840"/>
          </a:xfrm>
          <a:prstGeom prst="rect">
            <a:avLst/>
          </a:prstGeom>
          <a:noFill/>
        </p:spPr>
        <p:txBody>
          <a:bodyPr wrap="square" lIns="0" tIns="0" bIns="0" rIns="0">
            <a:spAutoFit/>
          </a:bodyPr>
          <a:lstStyle/>
          <a:p>
            <a:pPr>
              <a:spcAft>
                <a:spcPts val="600"/>
              </a:spcAft>
              <a:defRPr sz="1400" b="1">
                <a:solidFill>
                  <a:srgbClr val="002E6E"/>
                </a:solidFill>
                <a:latin typeface="Segoe UI"/>
              </a:defRPr>
            </a:pPr>
            <a:r>
              <a:t>Colloquial Hindi Voice Parsing (90% Accuracy)</a:t>
            </a:r>
          </a:p>
          <a:p>
            <a:pPr>
              <a:spcAft>
                <a:spcPts val="400"/>
              </a:spcAft>
              <a:defRPr sz="1100">
                <a:solidFill>
                  <a:srgbClr val="0F172A"/>
                </a:solidFill>
                <a:latin typeface="Segoe UI"/>
              </a:defRPr>
            </a:pPr>
            <a:r>
              <a:t>• Merchant speaks naturally: 'Cash teen hazaar mila aur doodh ka chheh sau diya'.</a:t>
            </a:r>
          </a:p>
          <a:p>
            <a:pPr>
              <a:spcAft>
                <a:spcPts val="400"/>
              </a:spcAft>
              <a:defRPr sz="1100">
                <a:solidFill>
                  <a:srgbClr val="0F172A"/>
                </a:solidFill>
                <a:latin typeface="Segoe UI"/>
              </a:defRPr>
            </a:pPr>
            <a:r>
              <a:t>• Regex + entity pipeline maps Hindi numerals to cash (+₹3,000) and expense (-₹600).</a:t>
            </a:r>
          </a:p>
          <a:p>
            <a:pPr>
              <a:spcAft>
                <a:spcPts val="400"/>
              </a:spcAft>
              <a:defRPr sz="1100">
                <a:solidFill>
                  <a:srgbClr val="0F172A"/>
                </a:solidFill>
                <a:latin typeface="Segoe UI"/>
              </a:defRPr>
            </a:pPr>
            <a:r>
              <a:t>• Evaluated across 30 spoken Hinglish merchant phrases with 90% extraction accuracy.</a:t>
            </a:r>
          </a:p>
        </p:txBody>
      </p:sp>
      <p:sp>
        <p:nvSpPr>
          <p:cNvPr id="8" name="Rounded Rectangle 7"/>
          <p:cNvSpPr/>
          <p:nvPr/>
        </p:nvSpPr>
        <p:spPr>
          <a:xfrm>
            <a:off x="731520" y="3474720"/>
            <a:ext cx="6217920" cy="1371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57600"/>
            <a:ext cx="5760720" cy="1005840"/>
          </a:xfrm>
          <a:prstGeom prst="rect">
            <a:avLst/>
          </a:prstGeom>
          <a:noFill/>
        </p:spPr>
        <p:txBody>
          <a:bodyPr wrap="square" lIns="0" tIns="0" bIns="0" rIns="0">
            <a:spAutoFit/>
          </a:bodyPr>
          <a:lstStyle/>
          <a:p>
            <a:pPr>
              <a:spcAft>
                <a:spcPts val="600"/>
              </a:spcAft>
              <a:defRPr sz="1400" b="1">
                <a:solidFill>
                  <a:srgbClr val="002E6E"/>
                </a:solidFill>
                <a:latin typeface="Segoe UI"/>
              </a:defRPr>
            </a:pPr>
            <a:r>
              <a:t>True Daily Profit Formula</a:t>
            </a:r>
          </a:p>
          <a:p>
            <a:pPr>
              <a:spcAft>
                <a:spcPts val="400"/>
              </a:spcAft>
              <a:defRPr sz="1100">
                <a:solidFill>
                  <a:srgbClr val="0F172A"/>
                </a:solidFill>
                <a:latin typeface="Segoe UI"/>
              </a:defRPr>
            </a:pPr>
            <a:r>
              <a:t>• Deterministic formula: UPI Sales + Cash Collections - Cash Expenses = Net Daily Profit.</a:t>
            </a:r>
          </a:p>
          <a:p>
            <a:pPr>
              <a:spcAft>
                <a:spcPts val="400"/>
              </a:spcAft>
              <a:defRPr sz="1100">
                <a:solidFill>
                  <a:srgbClr val="0F172A"/>
                </a:solidFill>
                <a:latin typeface="Segoe UI"/>
              </a:defRPr>
            </a:pPr>
            <a:r>
              <a:t>• Displays real take-home cashflow rather than misleading digital-only revenue.</a:t>
            </a:r>
          </a:p>
          <a:p>
            <a:pPr>
              <a:spcAft>
                <a:spcPts val="400"/>
              </a:spcAft>
              <a:defRPr sz="1100">
                <a:solidFill>
                  <a:srgbClr val="0F172A"/>
                </a:solidFill>
                <a:latin typeface="Segoe UI"/>
              </a:defRPr>
            </a:pPr>
            <a:r>
              <a:t>• 100% zero-math safety guarantee: calculations executed entirely in Python.</a:t>
            </a:r>
          </a:p>
        </p:txBody>
      </p:sp>
      <p:sp>
        <p:nvSpPr>
          <p:cNvPr id="10" name="Rounded Rectangle 9"/>
          <p:cNvSpPr/>
          <p:nvPr/>
        </p:nvSpPr>
        <p:spPr>
          <a:xfrm>
            <a:off x="731520" y="5029200"/>
            <a:ext cx="6217920" cy="12801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212080"/>
            <a:ext cx="5760720" cy="914400"/>
          </a:xfrm>
          <a:prstGeom prst="rect">
            <a:avLst/>
          </a:prstGeom>
          <a:noFill/>
        </p:spPr>
        <p:txBody>
          <a:bodyPr wrap="square" lIns="0" tIns="0" bIns="0" rIns="0">
            <a:spAutoFit/>
          </a:bodyPr>
          <a:lstStyle/>
          <a:p>
            <a:pPr>
              <a:spcAft>
                <a:spcPts val="600"/>
              </a:spcAft>
              <a:defRPr sz="1400" b="1">
                <a:solidFill>
                  <a:srgbClr val="002E6E"/>
                </a:solidFill>
                <a:latin typeface="Segoe UI"/>
              </a:defRPr>
            </a:pPr>
            <a:r>
              <a:t>3-Tone Udhaar Recovery &amp; UPI Collect</a:t>
            </a:r>
          </a:p>
          <a:p>
            <a:pPr>
              <a:spcAft>
                <a:spcPts val="400"/>
              </a:spcAft>
              <a:defRPr sz="1100">
                <a:solidFill>
                  <a:srgbClr val="0F172A"/>
                </a:solidFill>
                <a:latin typeface="Segoe UI"/>
              </a:defRPr>
            </a:pPr>
            <a:r>
              <a:t>• Udhaar aging buckets: 0-7d, 8-14d, and 15+ days critical overdue.</a:t>
            </a:r>
          </a:p>
          <a:p>
            <a:pPr>
              <a:spcAft>
                <a:spcPts val="400"/>
              </a:spcAft>
              <a:defRPr sz="1100">
                <a:solidFill>
                  <a:srgbClr val="0F172A"/>
                </a:solidFill>
                <a:latin typeface="Segoe UI"/>
              </a:defRPr>
            </a:pPr>
            <a:r>
              <a:t>• Generates Soft, Firm, or Funny reminders ('Chai ki dosti barkarar rahe...').</a:t>
            </a:r>
          </a:p>
          <a:p>
            <a:pPr>
              <a:spcAft>
                <a:spcPts val="400"/>
              </a:spcAft>
              <a:defRPr sz="1100">
                <a:solidFill>
                  <a:srgbClr val="0F172A"/>
                </a:solidFill>
                <a:latin typeface="Segoe UI"/>
              </a:defRPr>
            </a:pPr>
            <a:r>
              <a:t>• Dispatches simulated Paytm UPI Collect request with one tap.</a:t>
            </a:r>
          </a:p>
        </p:txBody>
      </p:sp>
      <p:pic>
        <p:nvPicPr>
          <p:cNvPr id="12" name="Picture 11" descr="bahi_khata.png"/>
          <p:cNvPicPr>
            <a:picLocks noChangeAspect="1"/>
          </p:cNvPicPr>
          <p:nvPr/>
        </p:nvPicPr>
        <p:blipFill>
          <a:blip r:embed="rId2"/>
          <a:stretch>
            <a:fillRect/>
          </a:stretch>
        </p:blipFill>
        <p:spPr>
          <a:xfrm>
            <a:off x="7315200" y="1463040"/>
            <a:ext cx="3260374" cy="4937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DIFFERENTIATOR 3</a:t>
            </a:r>
          </a:p>
        </p:txBody>
      </p:sp>
      <p:sp>
        <p:nvSpPr>
          <p:cNvPr id="4" name="TextBox 3"/>
          <p:cNvSpPr txBox="1"/>
          <p:nvPr/>
        </p:nvSpPr>
        <p:spPr>
          <a:xfrm>
            <a:off x="731520" y="731520"/>
            <a:ext cx="6400800" cy="640080"/>
          </a:xfrm>
          <a:prstGeom prst="rect">
            <a:avLst/>
          </a:prstGeom>
          <a:noFill/>
        </p:spPr>
        <p:txBody>
          <a:bodyPr wrap="square" lIns="0" tIns="0" bIns="0" rIns="0">
            <a:spAutoFit/>
          </a:bodyPr>
          <a:lstStyle/>
          <a:p>
            <a:pPr>
              <a:defRPr sz="2200" b="1">
                <a:solidFill>
                  <a:srgbClr val="002E6E"/>
                </a:solidFill>
                <a:latin typeface="Segoe UI"/>
              </a:defRPr>
            </a:pPr>
            <a:r>
              <a:t>Munim Score: An Underwriting Signal, Not a Credit Decision</a:t>
            </a:r>
          </a:p>
        </p:txBody>
      </p:sp>
      <p:sp>
        <p:nvSpPr>
          <p:cNvPr id="5" name="TextBox 4"/>
          <p:cNvSpPr txBox="1"/>
          <p:nvPr/>
        </p:nvSpPr>
        <p:spPr>
          <a:xfrm>
            <a:off x="731520" y="1371600"/>
            <a:ext cx="6400800" cy="411480"/>
          </a:xfrm>
          <a:prstGeom prst="rect">
            <a:avLst/>
          </a:prstGeom>
          <a:noFill/>
        </p:spPr>
        <p:txBody>
          <a:bodyPr wrap="square" lIns="0" tIns="0" bIns="0" rIns="0">
            <a:spAutoFit/>
          </a:bodyPr>
          <a:lstStyle/>
          <a:p>
            <a:pPr>
              <a:defRPr sz="1200">
                <a:solidFill>
                  <a:srgbClr val="475569"/>
                </a:solidFill>
                <a:latin typeface="Segoe UI"/>
              </a:defRPr>
            </a:pPr>
            <a:r>
              <a:t>Transparent 5-factor creditworthiness signal based on countertop velocity and cash discipline.</a:t>
            </a:r>
          </a:p>
        </p:txBody>
      </p:sp>
      <p:sp>
        <p:nvSpPr>
          <p:cNvPr id="6" name="Rounded Rectangle 5"/>
          <p:cNvSpPr/>
          <p:nvPr/>
        </p:nvSpPr>
        <p:spPr>
          <a:xfrm>
            <a:off x="731520" y="1920240"/>
            <a:ext cx="62179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5760720" cy="1737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5 Transparent Creditworthiness Factors (0 – 100)</a:t>
            </a:r>
          </a:p>
          <a:p>
            <a:pPr>
              <a:spcAft>
                <a:spcPts val="400"/>
              </a:spcAft>
              <a:defRPr sz="1050">
                <a:solidFill>
                  <a:srgbClr val="0F172A"/>
                </a:solidFill>
                <a:latin typeface="Segoe UI"/>
              </a:defRPr>
            </a:pPr>
            <a:r>
              <a:t>• Consistency (25 pts): Daily payment activity &amp; business continuity.</a:t>
            </a:r>
          </a:p>
          <a:p>
            <a:pPr>
              <a:spcAft>
                <a:spcPts val="400"/>
              </a:spcAft>
              <a:defRPr sz="1050">
                <a:solidFill>
                  <a:srgbClr val="0F172A"/>
                </a:solidFill>
                <a:latin typeface="Segoe UI"/>
              </a:defRPr>
            </a:pPr>
            <a:r>
              <a:t>• Growth Velocity (20 pts): Month-over-month sales expansion trend.</a:t>
            </a:r>
          </a:p>
          <a:p>
            <a:pPr>
              <a:spcAft>
                <a:spcPts val="400"/>
              </a:spcAft>
              <a:defRPr sz="1050">
                <a:solidFill>
                  <a:srgbClr val="0F172A"/>
                </a:solidFill>
                <a:latin typeface="Segoe UI"/>
              </a:defRPr>
            </a:pPr>
            <a:r>
              <a:t>• Repeat Customer Rate (20 pts): Loyalty depth of returning client base.</a:t>
            </a:r>
          </a:p>
          <a:p>
            <a:pPr>
              <a:spcAft>
                <a:spcPts val="400"/>
              </a:spcAft>
              <a:defRPr sz="1050">
                <a:solidFill>
                  <a:srgbClr val="0F172A"/>
                </a:solidFill>
                <a:latin typeface="Segoe UI"/>
              </a:defRPr>
            </a:pPr>
            <a:r>
              <a:t>• Udhaar Recovery (20 pts): Timeliness of informal credit settlement.</a:t>
            </a:r>
          </a:p>
          <a:p>
            <a:pPr>
              <a:spcAft>
                <a:spcPts val="400"/>
              </a:spcAft>
              <a:defRPr sz="1050">
                <a:solidFill>
                  <a:srgbClr val="0F172A"/>
                </a:solidFill>
                <a:latin typeface="Segoe UI"/>
              </a:defRPr>
            </a:pPr>
            <a:r>
              <a:t>• Cash Discipline (15 pts): Daily adherence to evening bahi-khata logging.</a:t>
            </a:r>
          </a:p>
          <a:p>
            <a:pPr>
              <a:spcAft>
                <a:spcPts val="400"/>
              </a:spcAft>
              <a:defRPr sz="1050">
                <a:solidFill>
                  <a:srgbClr val="0F172A"/>
                </a:solidFill>
                <a:latin typeface="Segoe UI"/>
              </a:defRPr>
            </a:pPr>
            <a:r>
              <a:t>• Indicative Band: Score 78/100 maps to ₹65,000 – ₹85,000 limit [Simulated].</a:t>
            </a:r>
          </a:p>
        </p:txBody>
      </p:sp>
      <p:sp>
        <p:nvSpPr>
          <p:cNvPr id="8" name="Rounded Rectangle 7"/>
          <p:cNvSpPr/>
          <p:nvPr/>
        </p:nvSpPr>
        <p:spPr>
          <a:xfrm>
            <a:off x="731520" y="4206240"/>
            <a:ext cx="621792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389120"/>
            <a:ext cx="5760720" cy="1737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Statutory Disclaimer &amp; Lending Integration</a:t>
            </a:r>
          </a:p>
          <a:p>
            <a:pPr>
              <a:spcAft>
                <a:spcPts val="400"/>
              </a:spcAft>
              <a:defRPr sz="1200">
                <a:solidFill>
                  <a:srgbClr val="0F172A"/>
                </a:solidFill>
                <a:latin typeface="Segoe UI"/>
              </a:defRPr>
            </a:pPr>
            <a:r>
              <a:t>• Mandatory in-app disclaimer: 'Illustrative signal for Paytm's existing underwriting, not a credit decision.'</a:t>
            </a:r>
          </a:p>
          <a:p>
            <a:pPr>
              <a:spcAft>
                <a:spcPts val="400"/>
              </a:spcAft>
              <a:defRPr sz="1200">
                <a:solidFill>
                  <a:srgbClr val="0F172A"/>
                </a:solidFill>
                <a:latin typeface="Segoe UI"/>
              </a:defRPr>
            </a:pPr>
            <a:r>
              <a:t>• Zero autonomous credit approvals: prevents unauthorized balance sheet commitments.</a:t>
            </a:r>
          </a:p>
          <a:p>
            <a:pPr>
              <a:spcAft>
                <a:spcPts val="400"/>
              </a:spcAft>
              <a:defRPr sz="1200">
                <a:solidFill>
                  <a:srgbClr val="0F172A"/>
                </a:solidFill>
                <a:latin typeface="Segoe UI"/>
              </a:defRPr>
            </a:pPr>
            <a:r>
              <a:t>• Enriches Paytm's existing merchant loan models with high-frequency countertop velocity and cash discipline signals.</a:t>
            </a:r>
          </a:p>
          <a:p>
            <a:pPr>
              <a:spcAft>
                <a:spcPts val="400"/>
              </a:spcAft>
              <a:defRPr sz="1200">
                <a:solidFill>
                  <a:srgbClr val="0F172A"/>
                </a:solidFill>
                <a:latin typeface="Segoe UI"/>
              </a:defRPr>
            </a:pPr>
            <a:r>
              <a:t>• Provides transparent action items: shows merchant exactly how to improve score.</a:t>
            </a:r>
          </a:p>
        </p:txBody>
      </p:sp>
      <p:pic>
        <p:nvPicPr>
          <p:cNvPr id="10" name="Picture 9" descr="munim_score.png"/>
          <p:cNvPicPr>
            <a:picLocks noChangeAspect="1"/>
          </p:cNvPicPr>
          <p:nvPr/>
        </p:nvPicPr>
        <p:blipFill>
          <a:blip r:embed="rId2"/>
          <a:stretch>
            <a:fillRect/>
          </a:stretch>
        </p:blipFill>
        <p:spPr>
          <a:xfrm>
            <a:off x="7315200" y="1463040"/>
            <a:ext cx="3260374" cy="4937760"/>
          </a:xfrm>
          <a:prstGeom prst="rect">
            <a:avLst/>
          </a:prstGeom>
        </p:spPr>
      </p:pic>
      <p:sp>
        <p:nvSpPr>
          <p:cNvPr id="11" name="Rounded Rectangle 10"/>
          <p:cNvSpPr/>
          <p:nvPr/>
        </p:nvSpPr>
        <p:spPr>
          <a:xfrm>
            <a:off x="7315200" y="1097280"/>
            <a:ext cx="1280160" cy="2743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0" tIns="0" bIns="0" rIns="0"/>
          <a:lstStyle/>
          <a:p>
            <a:pPr algn="ctr">
              <a:defRPr sz="850" b="1">
                <a:solidFill>
                  <a:srgbClr val="B45309"/>
                </a:solidFill>
                <a:latin typeface="Segoe UI"/>
              </a:defRPr>
            </a:pPr>
            <a:r>
              <a:t>⚡ SIMULATED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LIVE INTELLIGENCE</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002E6E"/>
                </a:solidFill>
                <a:latin typeface="Segoe UI"/>
              </a:defRPr>
            </a:pPr>
            <a:r>
              <a:t>Countertop Rush Warnings &amp; The Honest 'Don't Discount' Decision</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475569"/>
                </a:solidFill>
                <a:latin typeface="Segoe UI"/>
              </a:defRPr>
            </a:pPr>
            <a:r>
              <a:t>Balancing proactive rush operational alerts with honest margin protection during external shocks.</a:t>
            </a:r>
          </a:p>
        </p:txBody>
      </p:sp>
      <p:sp>
        <p:nvSpPr>
          <p:cNvPr id="6" name="Rounded Rectangle 5"/>
          <p:cNvSpPr/>
          <p:nvPr/>
        </p:nvSpPr>
        <p:spPr>
          <a:xfrm>
            <a:off x="731520" y="1920240"/>
            <a:ext cx="4114800" cy="4297680"/>
          </a:xfrm>
          <a:prstGeom prst="roundRect">
            <a:avLst/>
          </a:prstGeom>
          <a:solidFill>
            <a:srgbClr val="FFFFFF"/>
          </a:solidFill>
          <a:ln w="1905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3657600" cy="3931920"/>
          </a:xfrm>
          <a:prstGeom prst="rect">
            <a:avLst/>
          </a:prstGeom>
          <a:noFill/>
        </p:spPr>
        <p:txBody>
          <a:bodyPr wrap="square" lIns="0" tIns="0" bIns="0" rIns="0">
            <a:spAutoFit/>
          </a:bodyPr>
          <a:lstStyle/>
          <a:p>
            <a:pPr>
              <a:spcAft>
                <a:spcPts val="600"/>
              </a:spcAft>
              <a:defRPr sz="1400" b="1">
                <a:solidFill>
                  <a:srgbClr val="002E6E"/>
                </a:solidFill>
                <a:latin typeface="Segoe UI"/>
              </a:defRPr>
            </a:pPr>
            <a:r>
              <a:t>⚡ Footfall Surge Alert (Z &gt; 2.0)</a:t>
            </a:r>
          </a:p>
          <a:p>
            <a:pPr>
              <a:spcAft>
                <a:spcPts val="400"/>
              </a:spcAft>
              <a:defRPr sz="1200">
                <a:solidFill>
                  <a:srgbClr val="0F172A"/>
                </a:solidFill>
                <a:latin typeface="Segoe UI"/>
              </a:defRPr>
            </a:pPr>
            <a:r>
              <a:t>• Real-time velocity monitoring: tracks payment counts against hourly day-of-week baselines.</a:t>
            </a:r>
          </a:p>
          <a:p>
            <a:pPr>
              <a:spcAft>
                <a:spcPts val="400"/>
              </a:spcAft>
              <a:defRPr sz="1200">
                <a:solidFill>
                  <a:srgbClr val="0F172A"/>
                </a:solidFill>
                <a:latin typeface="Segoe UI"/>
              </a:defRPr>
            </a:pPr>
            <a:r>
              <a:t>• Planted Story 4: Burst of 16 payments in 10 minutes triggers Z-score &gt; 2.0 surge detection.</a:t>
            </a:r>
          </a:p>
          <a:p>
            <a:pPr>
              <a:spcAft>
                <a:spcPts val="400"/>
              </a:spcAft>
              <a:defRPr sz="1200">
                <a:solidFill>
                  <a:srgbClr val="0F172A"/>
                </a:solidFill>
                <a:latin typeface="Segoe UI"/>
              </a:defRPr>
            </a:pPr>
            <a:r>
              <a:t>• Soundbox pulses cyan waveform and announces: 'Dhyan dein: Rush aa raha hai! Doodh aur snacks ka stock check kar lo.'</a:t>
            </a:r>
          </a:p>
          <a:p>
            <a:pPr>
              <a:spcAft>
                <a:spcPts val="400"/>
              </a:spcAft>
              <a:defRPr sz="1200">
                <a:solidFill>
                  <a:srgbClr val="0F172A"/>
                </a:solidFill>
                <a:latin typeface="Segoe UI"/>
              </a:defRPr>
            </a:pPr>
            <a:r>
              <a:t>• Prepares stall operations before crowd overwhelms counter capacity.</a:t>
            </a:r>
          </a:p>
          <a:p>
            <a:pPr>
              <a:spcAft>
                <a:spcPts val="400"/>
              </a:spcAft>
              <a:defRPr sz="1200">
                <a:solidFill>
                  <a:srgbClr val="0F172A"/>
                </a:solidFill>
                <a:latin typeface="Segoe UI"/>
              </a:defRPr>
            </a:pPr>
            <a:r>
              <a:t>• Anti-spam cooldown prevents announcement fatigue.</a:t>
            </a:r>
          </a:p>
        </p:txBody>
      </p:sp>
      <p:sp>
        <p:nvSpPr>
          <p:cNvPr id="8" name="Rounded Rectangle 7"/>
          <p:cNvSpPr/>
          <p:nvPr/>
        </p:nvSpPr>
        <p:spPr>
          <a:xfrm>
            <a:off x="5120640" y="1920240"/>
            <a:ext cx="4114800" cy="42976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49240" y="2103120"/>
            <a:ext cx="3657600" cy="3931920"/>
          </a:xfrm>
          <a:prstGeom prst="rect">
            <a:avLst/>
          </a:prstGeom>
          <a:noFill/>
        </p:spPr>
        <p:txBody>
          <a:bodyPr wrap="square" lIns="0" tIns="0" bIns="0" rIns="0">
            <a:spAutoFit/>
          </a:bodyPr>
          <a:lstStyle/>
          <a:p>
            <a:pPr>
              <a:spcAft>
                <a:spcPts val="600"/>
              </a:spcAft>
              <a:defRPr sz="1400" b="1">
                <a:solidFill>
                  <a:srgbClr val="002E6E"/>
                </a:solidFill>
                <a:latin typeface="Segoe UI"/>
              </a:defRPr>
            </a:pPr>
            <a:r>
              <a:t>🛑 External Shock Guard: 'DON'T ACT'</a:t>
            </a:r>
          </a:p>
          <a:p>
            <a:pPr>
              <a:spcAft>
                <a:spcPts val="400"/>
              </a:spcAft>
              <a:defRPr sz="1200">
                <a:solidFill>
                  <a:srgbClr val="0F172A"/>
                </a:solidFill>
                <a:latin typeface="Segoe UI"/>
              </a:defRPr>
            </a:pPr>
            <a:r>
              <a:t>• Implemented in explain_dip() detector for sudden sales drops (&gt;35% below baseline).</a:t>
            </a:r>
          </a:p>
          <a:p>
            <a:pPr>
              <a:spcAft>
                <a:spcPts val="400"/>
              </a:spcAft>
              <a:defRPr sz="1200">
                <a:solidFill>
                  <a:srgbClr val="0F172A"/>
                </a:solidFill>
                <a:latin typeface="Segoe UI"/>
              </a:defRPr>
            </a:pPr>
            <a:r>
              <a:t>• Cross-references external factors: heavy monsoon rainstorm or India vs Pakistan cricket match.</a:t>
            </a:r>
          </a:p>
          <a:p>
            <a:pPr>
              <a:spcAft>
                <a:spcPts val="400"/>
              </a:spcAft>
              <a:defRPr sz="1200">
                <a:solidFill>
                  <a:srgbClr val="0F172A"/>
                </a:solidFill>
                <a:latin typeface="Segoe UI"/>
              </a:defRPr>
            </a:pPr>
            <a:r>
              <a:t>• Honest AI recommendation: 'DON'T ACT (Discount mat do)'.</a:t>
            </a:r>
          </a:p>
          <a:p>
            <a:pPr>
              <a:spcAft>
                <a:spcPts val="400"/>
              </a:spcAft>
              <a:defRPr sz="1200">
                <a:solidFill>
                  <a:srgbClr val="0F172A"/>
                </a:solidFill>
                <a:latin typeface="Segoe UI"/>
              </a:defRPr>
            </a:pPr>
            <a:r>
              <a:t>• System explanation to merchant: 'Giri hui sales ka karan bhari barish hai, koi business kami nahi. Discount dekar margin barbad mat karein.'</a:t>
            </a:r>
          </a:p>
          <a:p>
            <a:pPr>
              <a:spcAft>
                <a:spcPts val="400"/>
              </a:spcAft>
              <a:defRPr sz="1200">
                <a:solidFill>
                  <a:srgbClr val="0F172A"/>
                </a:solidFill>
                <a:latin typeface="Segoe UI"/>
              </a:defRPr>
            </a:pPr>
            <a:r>
              <a:t>• Protects profitability instead of launching wasteful discounts.</a:t>
            </a:r>
          </a:p>
        </p:txBody>
      </p:sp>
      <p:pic>
        <p:nvPicPr>
          <p:cNvPr id="10" name="Picture 9" descr="soundbox_device.png"/>
          <p:cNvPicPr>
            <a:picLocks noChangeAspect="1"/>
          </p:cNvPicPr>
          <p:nvPr/>
        </p:nvPicPr>
        <p:blipFill>
          <a:blip r:embed="rId2"/>
          <a:stretch>
            <a:fillRect/>
          </a:stretch>
        </p:blipFill>
        <p:spPr>
          <a:xfrm>
            <a:off x="9418320" y="1920240"/>
            <a:ext cx="2011680" cy="3538494"/>
          </a:xfrm>
          <a:prstGeom prst="rect">
            <a:avLst/>
          </a:prstGeom>
        </p:spPr>
      </p:pic>
      <p:sp>
        <p:nvSpPr>
          <p:cNvPr id="11" name="Rounded Rectangle 10"/>
          <p:cNvSpPr/>
          <p:nvPr/>
        </p:nvSpPr>
        <p:spPr>
          <a:xfrm>
            <a:off x="9418320" y="1463040"/>
            <a:ext cx="1280160" cy="27432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0" tIns="0" bIns="0" rIns="0"/>
          <a:lstStyle/>
          <a:p>
            <a:pPr algn="ctr">
              <a:defRPr sz="850" b="1">
                <a:solidFill>
                  <a:srgbClr val="B45309"/>
                </a:solidFill>
                <a:latin typeface="Segoe UI"/>
              </a:defRPr>
            </a:pPr>
            <a:r>
              <a:t>⚡ SIMULATED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8"/>
          </a:solidFill>
          <a:ln>
            <a:solidFill>
              <a:srgbClr val="001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TRUST &amp; SAFETY</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FFFFFF"/>
                </a:solidFill>
                <a:latin typeface="Segoe UI"/>
              </a:defRPr>
            </a:pPr>
            <a:r>
              <a:t>Unbypassable Multi-Tier Guardrails &amp; Zero Data Leakage</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94A3B8"/>
                </a:solidFill>
                <a:latin typeface="Segoe UI"/>
              </a:defRPr>
            </a:pPr>
            <a:r>
              <a:t>Cryptographic runtime authorization tokens, AST-audited data isolation, and immutable logging.</a:t>
            </a:r>
          </a:p>
        </p:txBody>
      </p:sp>
      <p:sp>
        <p:nvSpPr>
          <p:cNvPr id="6" name="Rounded Rectangle 5"/>
          <p:cNvSpPr/>
          <p:nvPr/>
        </p:nvSpPr>
        <p:spPr>
          <a:xfrm>
            <a:off x="731520" y="1920240"/>
            <a:ext cx="3291840" cy="4297680"/>
          </a:xfrm>
          <a:prstGeom prst="roundRect">
            <a:avLst/>
          </a:prstGeom>
          <a:solidFill>
            <a:srgbClr val="00224D"/>
          </a:solidFill>
          <a:ln w="1905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2834640" cy="3931920"/>
          </a:xfrm>
          <a:prstGeom prst="rect">
            <a:avLst/>
          </a:prstGeom>
          <a:noFill/>
        </p:spPr>
        <p:txBody>
          <a:bodyPr wrap="square" lIns="0" tIns="0" bIns="0" rIns="0">
            <a:spAutoFit/>
          </a:bodyPr>
          <a:lstStyle/>
          <a:p>
            <a:pPr>
              <a:spcAft>
                <a:spcPts val="600"/>
              </a:spcAft>
              <a:defRPr sz="1400" b="1">
                <a:solidFill>
                  <a:srgbClr val="00BAF2"/>
                </a:solidFill>
                <a:latin typeface="Segoe UI"/>
              </a:defRPr>
            </a:pPr>
            <a:r>
              <a:t>3-Tier Autonomy Model</a:t>
            </a:r>
          </a:p>
          <a:p>
            <a:pPr>
              <a:spcAft>
                <a:spcPts val="400"/>
              </a:spcAft>
              <a:defRPr sz="1200">
                <a:solidFill>
                  <a:srgbClr val="FFFFFF"/>
                </a:solidFill>
                <a:latin typeface="Segoe UI"/>
              </a:defRPr>
            </a:pPr>
            <a:r>
              <a:t>• Tier 0 (Read &amp; Analyze): Automatic, unblocked data retrieval.</a:t>
            </a:r>
          </a:p>
          <a:p>
            <a:pPr>
              <a:spcAft>
                <a:spcPts val="400"/>
              </a:spcAft>
              <a:defRPr sz="1200">
                <a:solidFill>
                  <a:srgbClr val="FFFFFF"/>
                </a:solidFill>
                <a:latin typeface="Segoe UI"/>
              </a:defRPr>
            </a:pPr>
            <a:r>
              <a:t>• Tier 1 (Drafts): Auto-creates campaign drafts and reminder texts; zero external push.</a:t>
            </a:r>
          </a:p>
          <a:p>
            <a:pPr>
              <a:spcAft>
                <a:spcPts val="400"/>
              </a:spcAft>
              <a:defRPr sz="1200">
                <a:solidFill>
                  <a:srgbClr val="FFFFFF"/>
                </a:solidFill>
                <a:latin typeface="Segoe UI"/>
              </a:defRPr>
            </a:pPr>
            <a:r>
              <a:t>• Tier 2 (External Actions): Customer messaging, money spend, campaign activations.</a:t>
            </a:r>
          </a:p>
          <a:p>
            <a:pPr>
              <a:spcAft>
                <a:spcPts val="400"/>
              </a:spcAft>
              <a:defRPr sz="1200">
                <a:solidFill>
                  <a:srgbClr val="FFFFFF"/>
                </a:solidFill>
                <a:latin typeface="Segoe UI"/>
              </a:defRPr>
            </a:pPr>
            <a:r>
              <a:t>• Tier 2 strictly blocked until explicit merchant approval on phone.</a:t>
            </a:r>
          </a:p>
        </p:txBody>
      </p:sp>
      <p:sp>
        <p:nvSpPr>
          <p:cNvPr id="8" name="Rounded Rectangle 7"/>
          <p:cNvSpPr/>
          <p:nvPr/>
        </p:nvSpPr>
        <p:spPr>
          <a:xfrm>
            <a:off x="4297680" y="1920240"/>
            <a:ext cx="3291840" cy="4297680"/>
          </a:xfrm>
          <a:prstGeom prst="roundRect">
            <a:avLst/>
          </a:prstGeom>
          <a:solidFill>
            <a:srgbClr val="00224D"/>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103120"/>
            <a:ext cx="2834640" cy="3931920"/>
          </a:xfrm>
          <a:prstGeom prst="rect">
            <a:avLst/>
          </a:prstGeom>
          <a:noFill/>
        </p:spPr>
        <p:txBody>
          <a:bodyPr wrap="square" lIns="0" tIns="0" bIns="0" rIns="0">
            <a:spAutoFit/>
          </a:bodyPr>
          <a:lstStyle/>
          <a:p>
            <a:pPr>
              <a:spcAft>
                <a:spcPts val="600"/>
              </a:spcAft>
              <a:defRPr sz="1400" b="1">
                <a:solidFill>
                  <a:srgbClr val="00BAF2"/>
                </a:solidFill>
                <a:latin typeface="Segoe UI"/>
              </a:defRPr>
            </a:pPr>
            <a:r>
              <a:t>Token-Locked Adapters</a:t>
            </a:r>
          </a:p>
          <a:p>
            <a:pPr>
              <a:spcAft>
                <a:spcPts val="400"/>
              </a:spcAft>
              <a:defRPr sz="1200">
                <a:solidFill>
                  <a:srgbClr val="FFFFFF"/>
                </a:solidFill>
                <a:latin typeface="Segoe UI"/>
              </a:defRPr>
            </a:pPr>
            <a:r>
              <a:t>• Mock adapters require single-use runtime _auth_token issued solely by GuardrailService.</a:t>
            </a:r>
          </a:p>
          <a:p>
            <a:pPr>
              <a:spcAft>
                <a:spcPts val="400"/>
              </a:spcAft>
              <a:defRPr sz="1200">
                <a:solidFill>
                  <a:srgbClr val="FFFFFF"/>
                </a:solidFill>
                <a:latin typeface="Segoe UI"/>
              </a:defRPr>
            </a:pPr>
            <a:r>
              <a:t>• Direct caller or tool invocation throws unbypassable PermissionError.</a:t>
            </a:r>
          </a:p>
          <a:p>
            <a:pPr>
              <a:spcAft>
                <a:spcPts val="400"/>
              </a:spcAft>
              <a:defRPr sz="1200">
                <a:solidFill>
                  <a:srgbClr val="FFFFFF"/>
                </a:solidFill>
                <a:latin typeface="Segoe UI"/>
              </a:defRPr>
            </a:pPr>
            <a:r>
              <a:t>• Idempotency keys prevent double execution of approved campaigns.</a:t>
            </a:r>
          </a:p>
          <a:p>
            <a:pPr>
              <a:spcAft>
                <a:spcPts val="400"/>
              </a:spcAft>
              <a:defRPr sz="1200">
                <a:solidFill>
                  <a:srgbClr val="FFFFFF"/>
                </a:solidFill>
                <a:latin typeface="Segoe UI"/>
              </a:defRPr>
            </a:pPr>
            <a:r>
              <a:t>• Append-only immutable audit log records actor, tier, payload, and timestamp.</a:t>
            </a:r>
          </a:p>
        </p:txBody>
      </p:sp>
      <p:sp>
        <p:nvSpPr>
          <p:cNvPr id="10" name="Rounded Rectangle 9"/>
          <p:cNvSpPr/>
          <p:nvPr/>
        </p:nvSpPr>
        <p:spPr>
          <a:xfrm>
            <a:off x="7863840" y="1920240"/>
            <a:ext cx="3566160" cy="4297680"/>
          </a:xfrm>
          <a:prstGeom prst="roundRect">
            <a:avLst/>
          </a:prstGeom>
          <a:solidFill>
            <a:srgbClr val="00224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103120"/>
            <a:ext cx="3108960" cy="3931920"/>
          </a:xfrm>
          <a:prstGeom prst="rect">
            <a:avLst/>
          </a:prstGeom>
          <a:noFill/>
        </p:spPr>
        <p:txBody>
          <a:bodyPr wrap="square" lIns="0" tIns="0" bIns="0" rIns="0">
            <a:spAutoFit/>
          </a:bodyPr>
          <a:lstStyle/>
          <a:p>
            <a:pPr>
              <a:spcAft>
                <a:spcPts val="600"/>
              </a:spcAft>
              <a:defRPr sz="1400" b="1">
                <a:solidFill>
                  <a:srgbClr val="00BAF2"/>
                </a:solidFill>
                <a:latin typeface="Segoe UI"/>
              </a:defRPr>
            </a:pPr>
            <a:r>
              <a:t>AST Ground-Truth Isolation</a:t>
            </a:r>
          </a:p>
          <a:p>
            <a:pPr>
              <a:spcAft>
                <a:spcPts val="400"/>
              </a:spcAft>
              <a:defRPr sz="1200">
                <a:solidFill>
                  <a:srgbClr val="FFFFFF"/>
                </a:solidFill>
                <a:latin typeface="Segoe UI"/>
              </a:defRPr>
            </a:pPr>
            <a:r>
              <a:t>• menu_items_truth housed in physically separate SQLite database (ground_truth.db).</a:t>
            </a:r>
          </a:p>
          <a:p>
            <a:pPr>
              <a:spcAft>
                <a:spcPts val="400"/>
              </a:spcAft>
              <a:defRPr sz="1200">
                <a:solidFill>
                  <a:srgbClr val="FFFFFF"/>
                </a:solidFill>
                <a:latin typeface="Segoe UI"/>
              </a:defRPr>
            </a:pPr>
            <a:r>
              <a:t>• Main app DB (munim.db) contains zero ground-truth tables.</a:t>
            </a:r>
          </a:p>
          <a:p>
            <a:pPr>
              <a:spcAft>
                <a:spcPts val="400"/>
              </a:spcAft>
              <a:defRPr sz="1200">
                <a:solidFill>
                  <a:srgbClr val="FFFFFF"/>
                </a:solidFill>
                <a:latin typeface="Segoe UI"/>
              </a:defRPr>
            </a:pPr>
            <a:r>
              <a:t>• Automated AST static analysis test verifies zero imports or SQL queries of ground truth in inference code.</a:t>
            </a:r>
          </a:p>
          <a:p>
            <a:pPr>
              <a:spcAft>
                <a:spcPts val="400"/>
              </a:spcAft>
              <a:defRPr sz="1200">
                <a:solidFill>
                  <a:srgbClr val="FFFFFF"/>
                </a:solidFill>
                <a:latin typeface="Segoe UI"/>
              </a:defRPr>
            </a:pPr>
            <a:r>
              <a:t>• Guarantees true algorithmic clustering without synthetic data peeking.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LIVE DEMO FLOW</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002E6E"/>
                </a:solidFill>
                <a:latin typeface="Segoe UI"/>
              </a:defRPr>
            </a:pPr>
            <a:r>
              <a:t>The 3-Minute Live Hackathon Journey: 5 High-Impact Acts</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475569"/>
                </a:solidFill>
                <a:latin typeface="Segoe UI"/>
              </a:defRPr>
            </a:pPr>
            <a:r>
              <a:t>Running live right now on localhost:8000 across split Soundbox 4G and phone companion views.</a:t>
            </a:r>
          </a:p>
        </p:txBody>
      </p:sp>
      <p:sp>
        <p:nvSpPr>
          <p:cNvPr id="6" name="Rounded Rectangle 5"/>
          <p:cNvSpPr/>
          <p:nvPr/>
        </p:nvSpPr>
        <p:spPr>
          <a:xfrm>
            <a:off x="731520" y="1920240"/>
            <a:ext cx="2057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03120"/>
            <a:ext cx="1600200" cy="3749040"/>
          </a:xfrm>
          <a:prstGeom prst="rect">
            <a:avLst/>
          </a:prstGeom>
          <a:noFill/>
        </p:spPr>
        <p:txBody>
          <a:bodyPr wrap="square" lIns="0" tIns="0" bIns="0" rIns="0">
            <a:spAutoFit/>
          </a:bodyPr>
          <a:lstStyle/>
          <a:p>
            <a:pPr>
              <a:spcAft>
                <a:spcPts val="600"/>
              </a:spcAft>
              <a:defRPr sz="1400" b="1">
                <a:solidFill>
                  <a:srgbClr val="002E6E"/>
                </a:solidFill>
                <a:latin typeface="Segoe UI"/>
              </a:defRPr>
            </a:pPr>
            <a:r>
              <a:t>Act 1</a:t>
            </a:r>
            <a:br/>
            <a:r>
              <a:t>Morning Brief</a:t>
            </a:r>
            <a:br/>
            <a:r>
              <a:t>0:00 – 0:40</a:t>
            </a:r>
          </a:p>
          <a:p>
            <a:pPr>
              <a:spcAft>
                <a:spcPts val="400"/>
              </a:spcAft>
              <a:defRPr sz="1200">
                <a:solidFill>
                  <a:srgbClr val="0F172A"/>
                </a:solidFill>
                <a:latin typeface="Segoe UI"/>
              </a:defRPr>
            </a:pPr>
            <a:r>
              <a:t>• Soundbox plays TTS audio ('Suprabhat Sharma ji...'); Phone reveals true daily net profit (UPI + Cash - Expense).</a:t>
            </a:r>
          </a:p>
        </p:txBody>
      </p:sp>
      <p:sp>
        <p:nvSpPr>
          <p:cNvPr id="8" name="Rounded Rectangle 7"/>
          <p:cNvSpPr/>
          <p:nvPr/>
        </p:nvSpPr>
        <p:spPr>
          <a:xfrm>
            <a:off x="2953512" y="1920240"/>
            <a:ext cx="2057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2112" y="2103120"/>
            <a:ext cx="1600200" cy="3749040"/>
          </a:xfrm>
          <a:prstGeom prst="rect">
            <a:avLst/>
          </a:prstGeom>
          <a:noFill/>
        </p:spPr>
        <p:txBody>
          <a:bodyPr wrap="square" lIns="0" tIns="0" bIns="0" rIns="0">
            <a:spAutoFit/>
          </a:bodyPr>
          <a:lstStyle/>
          <a:p>
            <a:pPr>
              <a:spcAft>
                <a:spcPts val="600"/>
              </a:spcAft>
              <a:defRPr sz="1400" b="1">
                <a:solidFill>
                  <a:srgbClr val="002E6E"/>
                </a:solidFill>
                <a:latin typeface="Segoe UI"/>
              </a:defRPr>
            </a:pPr>
            <a:r>
              <a:t>Act 2</a:t>
            </a:r>
            <a:br/>
            <a:r>
              <a:t>Item Inference</a:t>
            </a:r>
            <a:br/>
            <a:r>
              <a:t>0:40 – 1:15</a:t>
            </a:r>
          </a:p>
          <a:p>
            <a:pPr>
              <a:spcAft>
                <a:spcPts val="400"/>
              </a:spcAft>
              <a:defRPr sz="1200">
                <a:solidFill>
                  <a:srgbClr val="0F172A"/>
                </a:solidFill>
                <a:latin typeface="Segoe UI"/>
              </a:defRPr>
            </a:pPr>
            <a:r>
              <a:t>• Shows inferred menu price clusters (₹10 Chai, ₹20 Samosa); merchant taps 'Sahi Hai' chip to lock prior to 1.0.</a:t>
            </a:r>
          </a:p>
        </p:txBody>
      </p:sp>
      <p:sp>
        <p:nvSpPr>
          <p:cNvPr id="10" name="Rounded Rectangle 9"/>
          <p:cNvSpPr/>
          <p:nvPr/>
        </p:nvSpPr>
        <p:spPr>
          <a:xfrm>
            <a:off x="5175504" y="1920240"/>
            <a:ext cx="2057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4104" y="2103120"/>
            <a:ext cx="1600200" cy="3749040"/>
          </a:xfrm>
          <a:prstGeom prst="rect">
            <a:avLst/>
          </a:prstGeom>
          <a:noFill/>
        </p:spPr>
        <p:txBody>
          <a:bodyPr wrap="square" lIns="0" tIns="0" bIns="0" rIns="0">
            <a:spAutoFit/>
          </a:bodyPr>
          <a:lstStyle/>
          <a:p>
            <a:pPr>
              <a:spcAft>
                <a:spcPts val="600"/>
              </a:spcAft>
              <a:defRPr sz="1400" b="1">
                <a:solidFill>
                  <a:srgbClr val="002E6E"/>
                </a:solidFill>
                <a:latin typeface="Segoe UI"/>
              </a:defRPr>
            </a:pPr>
            <a:r>
              <a:t>Act 3</a:t>
            </a:r>
            <a:br/>
            <a:r>
              <a:t>Footfall Burst</a:t>
            </a:r>
            <a:br/>
            <a:r>
              <a:t>1:15 – 1:55</a:t>
            </a:r>
          </a:p>
          <a:p>
            <a:pPr>
              <a:spcAft>
                <a:spcPts val="400"/>
              </a:spcAft>
              <a:defRPr sz="1200">
                <a:solidFill>
                  <a:srgbClr val="0F172A"/>
                </a:solidFill>
                <a:latin typeface="Segoe UI"/>
              </a:defRPr>
            </a:pPr>
            <a:r>
              <a:t>• Demo panel injects 16 payments; Footfall Sensor computes Z&gt;2.0; Soundbox rings pulse with live stock prep alert.</a:t>
            </a:r>
          </a:p>
        </p:txBody>
      </p:sp>
      <p:sp>
        <p:nvSpPr>
          <p:cNvPr id="12" name="Rounded Rectangle 11"/>
          <p:cNvSpPr/>
          <p:nvPr/>
        </p:nvSpPr>
        <p:spPr>
          <a:xfrm>
            <a:off x="7397496" y="1920240"/>
            <a:ext cx="2057400" cy="4114800"/>
          </a:xfrm>
          <a:prstGeom prst="roundRect">
            <a:avLst/>
          </a:prstGeom>
          <a:solidFill>
            <a:srgbClr val="FFFFFF"/>
          </a:solidFill>
          <a:ln w="1905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6096" y="2103120"/>
            <a:ext cx="1600200" cy="3749040"/>
          </a:xfrm>
          <a:prstGeom prst="rect">
            <a:avLst/>
          </a:prstGeom>
          <a:noFill/>
        </p:spPr>
        <p:txBody>
          <a:bodyPr wrap="square" lIns="0" tIns="0" bIns="0" rIns="0">
            <a:spAutoFit/>
          </a:bodyPr>
          <a:lstStyle/>
          <a:p>
            <a:pPr>
              <a:spcAft>
                <a:spcPts val="600"/>
              </a:spcAft>
              <a:defRPr sz="1400" b="1">
                <a:solidFill>
                  <a:srgbClr val="002E6E"/>
                </a:solidFill>
                <a:latin typeface="Segoe UI"/>
              </a:defRPr>
            </a:pPr>
            <a:r>
              <a:t>Act 4</a:t>
            </a:r>
            <a:br/>
            <a:r>
              <a:t>Dead-Slot Action</a:t>
            </a:r>
            <a:br/>
            <a:r>
              <a:t>1:55 – 2:30</a:t>
            </a:r>
          </a:p>
          <a:p>
            <a:pPr>
              <a:spcAft>
                <a:spcPts val="400"/>
              </a:spcAft>
              <a:defRPr sz="1200">
                <a:solidFill>
                  <a:srgbClr val="0F172A"/>
                </a:solidFill>
                <a:latin typeface="Segoe UI"/>
              </a:defRPr>
            </a:pPr>
            <a:r>
              <a:t>• Spots Tue 2-5 PM lull (85% drop); Tier 2 phone approval card appears; merchant approves; measures +21.4% uplift vs holdout.</a:t>
            </a:r>
          </a:p>
        </p:txBody>
      </p:sp>
      <p:sp>
        <p:nvSpPr>
          <p:cNvPr id="14" name="Rounded Rectangle 13"/>
          <p:cNvSpPr/>
          <p:nvPr/>
        </p:nvSpPr>
        <p:spPr>
          <a:xfrm>
            <a:off x="9619488" y="1920240"/>
            <a:ext cx="2057400" cy="4114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48088" y="2103120"/>
            <a:ext cx="1600200" cy="3749040"/>
          </a:xfrm>
          <a:prstGeom prst="rect">
            <a:avLst/>
          </a:prstGeom>
          <a:noFill/>
        </p:spPr>
        <p:txBody>
          <a:bodyPr wrap="square" lIns="0" tIns="0" bIns="0" rIns="0">
            <a:spAutoFit/>
          </a:bodyPr>
          <a:lstStyle/>
          <a:p>
            <a:pPr>
              <a:spcAft>
                <a:spcPts val="600"/>
              </a:spcAft>
              <a:defRPr sz="1400" b="1">
                <a:solidFill>
                  <a:srgbClr val="002E6E"/>
                </a:solidFill>
                <a:latin typeface="Segoe UI"/>
              </a:defRPr>
            </a:pPr>
            <a:r>
              <a:t>Act 5</a:t>
            </a:r>
            <a:br/>
            <a:r>
              <a:t>Bahi-Khata Ritual</a:t>
            </a:r>
            <a:br/>
            <a:r>
              <a:t>2:30 – 3:00</a:t>
            </a:r>
          </a:p>
          <a:p>
            <a:pPr>
              <a:spcAft>
                <a:spcPts val="400"/>
              </a:spcAft>
              <a:defRPr sz="1200">
                <a:solidFill>
                  <a:srgbClr val="0F172A"/>
                </a:solidFill>
                <a:latin typeface="Segoe UI"/>
              </a:defRPr>
            </a:pPr>
            <a:r>
              <a:t>• Logs cash &amp; milk expense by voice; sends funny udhaar reminder with UPI Collect; displays 78/100 Munim Score.</a:t>
            </a:r>
          </a:p>
        </p:txBody>
      </p:sp>
      <p:sp>
        <p:nvSpPr>
          <p:cNvPr id="16" name="Rounded Rectangle 15"/>
          <p:cNvSpPr/>
          <p:nvPr/>
        </p:nvSpPr>
        <p:spPr>
          <a:xfrm>
            <a:off x="731520" y="6172200"/>
            <a:ext cx="10698480" cy="365760"/>
          </a:xfrm>
          <a:prstGeom prst="roundRect">
            <a:avLst/>
          </a:prstGeom>
          <a:solidFill>
            <a:srgbClr val="EEF2FF"/>
          </a:solidFill>
          <a:ln>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02E6E"/>
                </a:solidFill>
                <a:latin typeface="Segoe UI"/>
              </a:defRPr>
            </a:pPr>
            <a:r>
              <a:t>⚡ Battle-tested live interactive demo: 6 planted stories, 81,273 transactions, zero arithmetic hallucination.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5486400" cy="320040"/>
          </a:xfrm>
          <a:prstGeom prst="rect">
            <a:avLst/>
          </a:prstGeom>
          <a:noFill/>
        </p:spPr>
        <p:txBody>
          <a:bodyPr wrap="square" lIns="0" tIns="0" bIns="0" rIns="0">
            <a:spAutoFit/>
          </a:bodyPr>
          <a:lstStyle/>
          <a:p>
            <a:pPr>
              <a:defRPr sz="1000" b="1">
                <a:solidFill>
                  <a:srgbClr val="00BAF2"/>
                </a:solidFill>
                <a:latin typeface="Segoe UI"/>
              </a:defRPr>
            </a:pPr>
            <a:r>
              <a:t>IMPACT &amp; VISION</a:t>
            </a:r>
          </a:p>
        </p:txBody>
      </p:sp>
      <p:sp>
        <p:nvSpPr>
          <p:cNvPr id="4" name="TextBox 3"/>
          <p:cNvSpPr txBox="1"/>
          <p:nvPr/>
        </p:nvSpPr>
        <p:spPr>
          <a:xfrm>
            <a:off x="731520" y="731520"/>
            <a:ext cx="10698480" cy="640080"/>
          </a:xfrm>
          <a:prstGeom prst="rect">
            <a:avLst/>
          </a:prstGeom>
          <a:noFill/>
        </p:spPr>
        <p:txBody>
          <a:bodyPr wrap="square" lIns="0" tIns="0" bIns="0" rIns="0">
            <a:spAutoFit/>
          </a:bodyPr>
          <a:lstStyle/>
          <a:p>
            <a:pPr>
              <a:defRPr sz="2200" b="1">
                <a:solidFill>
                  <a:srgbClr val="002E6E"/>
                </a:solidFill>
                <a:latin typeface="Segoe UI"/>
              </a:defRPr>
            </a:pPr>
            <a:r>
              <a:t>From Countertop Prototype to 30 Million Paytm Counters</a:t>
            </a:r>
          </a:p>
        </p:txBody>
      </p:sp>
      <p:sp>
        <p:nvSpPr>
          <p:cNvPr id="5" name="TextBox 4"/>
          <p:cNvSpPr txBox="1"/>
          <p:nvPr/>
        </p:nvSpPr>
        <p:spPr>
          <a:xfrm>
            <a:off x="731520" y="1371600"/>
            <a:ext cx="10698480" cy="411480"/>
          </a:xfrm>
          <a:prstGeom prst="rect">
            <a:avLst/>
          </a:prstGeom>
          <a:noFill/>
        </p:spPr>
        <p:txBody>
          <a:bodyPr wrap="square" lIns="0" tIns="0" bIns="0" rIns="0">
            <a:spAutoFit/>
          </a:bodyPr>
          <a:lstStyle/>
          <a:p>
            <a:pPr>
              <a:defRPr sz="1200">
                <a:solidFill>
                  <a:srgbClr val="475569"/>
                </a:solidFill>
                <a:latin typeface="Segoe UI"/>
              </a:defRPr>
            </a:pPr>
            <a:r>
              <a:t>Validated algorithmic core with a clear integration trajectory into Paytm's production ecosystem.</a:t>
            </a:r>
          </a:p>
        </p:txBody>
      </p:sp>
      <p:sp>
        <p:nvSpPr>
          <p:cNvPr id="6" name="Rounded Rectangle 5"/>
          <p:cNvSpPr/>
          <p:nvPr/>
        </p:nvSpPr>
        <p:spPr>
          <a:xfrm>
            <a:off x="731520" y="1828800"/>
            <a:ext cx="3291840" cy="438912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11680"/>
            <a:ext cx="2834640" cy="4023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Measured Eval Results [SIM]</a:t>
            </a:r>
          </a:p>
          <a:p>
            <a:pPr>
              <a:spcAft>
                <a:spcPts val="400"/>
              </a:spcAft>
              <a:defRPr sz="1200">
                <a:solidFill>
                  <a:srgbClr val="0F172A"/>
                </a:solidFill>
                <a:latin typeface="Segoe UI"/>
              </a:defRPr>
            </a:pPr>
            <a:r>
              <a:t>• 1.0 F1 Score in menu item inference clustering (Precision: 1.0, Recall: 1.0).</a:t>
            </a:r>
          </a:p>
          <a:p>
            <a:pPr>
              <a:spcAft>
                <a:spcPts val="400"/>
              </a:spcAft>
              <a:defRPr sz="1200">
                <a:solidFill>
                  <a:srgbClr val="0F172A"/>
                </a:solidFill>
                <a:latin typeface="Segoe UI"/>
              </a:defRPr>
            </a:pPr>
            <a:r>
              <a:t>• 100% Zero-Math Safety: zero arithmetic hallucination across 50 Hinglish QA benchmarks.</a:t>
            </a:r>
          </a:p>
          <a:p>
            <a:pPr>
              <a:spcAft>
                <a:spcPts val="400"/>
              </a:spcAft>
              <a:defRPr sz="1200">
                <a:solidFill>
                  <a:srgbClr val="0F172A"/>
                </a:solidFill>
                <a:latin typeface="Segoe UI"/>
              </a:defRPr>
            </a:pPr>
            <a:r>
              <a:t>• 88.0% Tool Selection Accuracy on colloquial merchant queries.</a:t>
            </a:r>
          </a:p>
          <a:p>
            <a:pPr>
              <a:spcAft>
                <a:spcPts val="400"/>
              </a:spcAft>
              <a:defRPr sz="1200">
                <a:solidFill>
                  <a:srgbClr val="0F172A"/>
                </a:solidFill>
                <a:latin typeface="Segoe UI"/>
              </a:defRPr>
            </a:pPr>
            <a:r>
              <a:t>• 90.0% Spoken Hindi Cash &amp; Expense Extraction Accuracy across 30 test phrases.</a:t>
            </a:r>
          </a:p>
          <a:p>
            <a:pPr>
              <a:spcAft>
                <a:spcPts val="400"/>
              </a:spcAft>
              <a:defRPr sz="1200">
                <a:solidFill>
                  <a:srgbClr val="0F172A"/>
                </a:solidFill>
                <a:latin typeface="Segoe UI"/>
              </a:defRPr>
            </a:pPr>
            <a:r>
              <a:t>• Simulated Results: Tested on 81,273 synthetic txns across 6 merchant archetypes.</a:t>
            </a:r>
          </a:p>
        </p:txBody>
      </p:sp>
      <p:sp>
        <p:nvSpPr>
          <p:cNvPr id="8" name="Rounded Rectangle 7"/>
          <p:cNvSpPr/>
          <p:nvPr/>
        </p:nvSpPr>
        <p:spPr>
          <a:xfrm>
            <a:off x="4297680" y="1828800"/>
            <a:ext cx="3291840" cy="4389120"/>
          </a:xfrm>
          <a:prstGeom prst="roundRect">
            <a:avLst/>
          </a:prstGeom>
          <a:solidFill>
            <a:srgbClr val="FFFFFF"/>
          </a:solidFill>
          <a:ln w="19050">
            <a:solidFill>
              <a:srgbClr val="00B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011680"/>
            <a:ext cx="2834640" cy="4023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Real Paytm Integration</a:t>
            </a:r>
          </a:p>
          <a:p>
            <a:pPr>
              <a:spcAft>
                <a:spcPts val="400"/>
              </a:spcAft>
              <a:defRPr sz="1200">
                <a:solidFill>
                  <a:srgbClr val="0F172A"/>
                </a:solidFill>
                <a:latin typeface="Segoe UI"/>
              </a:defRPr>
            </a:pPr>
            <a:r>
              <a:t>• Paytm Soundbox 4G MQTT Gateway: push server-synthesized neural audio payloads via existing IoT 4G SIM.</a:t>
            </a:r>
          </a:p>
          <a:p>
            <a:pPr>
              <a:spcAft>
                <a:spcPts val="400"/>
              </a:spcAft>
              <a:defRPr sz="1200">
                <a:solidFill>
                  <a:srgbClr val="0F172A"/>
                </a:solidFill>
                <a:latin typeface="Segoe UI"/>
              </a:defRPr>
            </a:pPr>
            <a:r>
              <a:t>• Paytm for Business App: embed phone view as a native React Native module or mini-app.</a:t>
            </a:r>
          </a:p>
          <a:p>
            <a:pPr>
              <a:spcAft>
                <a:spcPts val="400"/>
              </a:spcAft>
              <a:defRPr sz="1200">
                <a:solidFill>
                  <a:srgbClr val="0F172A"/>
                </a:solidFill>
                <a:latin typeface="Segoe UI"/>
              </a:defRPr>
            </a:pPr>
            <a:r>
              <a:t>• Paytm Lending Pipeline: stream 5-factor Munim Score to NBFC partners for instant working capital underwriting.</a:t>
            </a:r>
          </a:p>
          <a:p>
            <a:pPr>
              <a:spcAft>
                <a:spcPts val="400"/>
              </a:spcAft>
              <a:defRPr sz="1200">
                <a:solidFill>
                  <a:srgbClr val="0F172A"/>
                </a:solidFill>
                <a:latin typeface="Segoe UI"/>
              </a:defRPr>
            </a:pPr>
            <a:r>
              <a:t>• Zero Hardware Overhead: deployable to all 30M+ active Soundbox merchants tomorrow.</a:t>
            </a:r>
          </a:p>
        </p:txBody>
      </p:sp>
      <p:sp>
        <p:nvSpPr>
          <p:cNvPr id="10" name="Rounded Rectangle 9"/>
          <p:cNvSpPr/>
          <p:nvPr/>
        </p:nvSpPr>
        <p:spPr>
          <a:xfrm>
            <a:off x="7863840" y="1828800"/>
            <a:ext cx="3566160" cy="4389120"/>
          </a:xfrm>
          <a:prstGeom prst="roundRect">
            <a:avLst/>
          </a:prstGeom>
          <a:solidFill>
            <a:srgbClr val="FFFFFF"/>
          </a:solidFill>
          <a:ln w="19050">
            <a:solidFill>
              <a:srgbClr val="002E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2011680"/>
            <a:ext cx="3108960" cy="4023360"/>
          </a:xfrm>
          <a:prstGeom prst="rect">
            <a:avLst/>
          </a:prstGeom>
          <a:noFill/>
        </p:spPr>
        <p:txBody>
          <a:bodyPr wrap="square" lIns="0" tIns="0" bIns="0" rIns="0">
            <a:spAutoFit/>
          </a:bodyPr>
          <a:lstStyle/>
          <a:p>
            <a:pPr>
              <a:spcAft>
                <a:spcPts val="600"/>
              </a:spcAft>
              <a:defRPr sz="1400" b="1">
                <a:solidFill>
                  <a:srgbClr val="002E6E"/>
                </a:solidFill>
                <a:latin typeface="Segoe UI"/>
              </a:defRPr>
            </a:pPr>
            <a:r>
              <a:t>Roadmap &amp; Team</a:t>
            </a:r>
          </a:p>
          <a:p>
            <a:pPr>
              <a:spcAft>
                <a:spcPts val="400"/>
              </a:spcAft>
              <a:defRPr sz="1200">
                <a:solidFill>
                  <a:srgbClr val="0F172A"/>
                </a:solidFill>
                <a:latin typeface="Segoe UI"/>
              </a:defRPr>
            </a:pPr>
            <a:r>
              <a:t>• [ROADMAP] Multi-lingual voice in 11 Indian languages (Tamil, Telugu, Bengali, Marathi, etc.).</a:t>
            </a:r>
          </a:p>
          <a:p>
            <a:pPr>
              <a:spcAft>
                <a:spcPts val="400"/>
              </a:spcAft>
              <a:defRPr sz="1200">
                <a:solidFill>
                  <a:srgbClr val="0F172A"/>
                </a:solidFill>
                <a:latin typeface="Segoe UI"/>
              </a:defRPr>
            </a:pPr>
            <a:r>
              <a:t>• [ROADMAP] Direct vendor stock reordering via Paytm ONDC network.</a:t>
            </a:r>
          </a:p>
          <a:p>
            <a:pPr>
              <a:spcAft>
                <a:spcPts val="400"/>
              </a:spcAft>
              <a:defRPr sz="1200">
                <a:solidFill>
                  <a:srgbClr val="0F172A"/>
                </a:solidFill>
                <a:latin typeface="Segoe UI"/>
              </a:defRPr>
            </a:pPr>
            <a:r>
              <a:t>• [ROADMAP] Automated GST &amp; presumptive tax filing exports.</a:t>
            </a:r>
          </a:p>
          <a:p>
            <a:pPr>
              <a:spcAft>
                <a:spcPts val="400"/>
              </a:spcAft>
              <a:defRPr sz="1200">
                <a:solidFill>
                  <a:srgbClr val="0F172A"/>
                </a:solidFill>
                <a:latin typeface="Segoe UI"/>
              </a:defRPr>
            </a:pPr>
            <a:r>
              <a:t>• Team: [TEAM NAME] • Full-Stack AI &amp; Fintech Engineers.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