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Relationship Id="rId7" Type="http://schemas.openxmlformats.org/officeDocument/2006/relationships/image" Target="../media/image13.png"/><Relationship Id="rId8" Type="http://schemas.openxmlformats.org/officeDocument/2006/relationships/image" Target="../media/image4.png"/><Relationship Id="rId9" Type="http://schemas.openxmlformats.org/officeDocument/2006/relationships/image" Target="../media/image14.png"/><Relationship Id="rId10" Type="http://schemas.openxmlformats.org/officeDocument/2006/relationships/image" Target="../media/image15.png"/><Relationship Id="rId11" Type="http://schemas.openxmlformats.org/officeDocument/2006/relationships/image" Target="../media/image7.png"/><Relationship Id="rId12" Type="http://schemas.openxmlformats.org/officeDocument/2006/relationships/image" Target="../media/image16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9.png"/><Relationship Id="rId4" Type="http://schemas.openxmlformats.org/officeDocument/2006/relationships/image" Target="../media/image4.png"/><Relationship Id="rId5" Type="http://schemas.openxmlformats.org/officeDocument/2006/relationships/image" Target="../media/image17.png"/><Relationship Id="rId6" Type="http://schemas.openxmlformats.org/officeDocument/2006/relationships/image" Target="../media/image7.png"/><Relationship Id="rId7" Type="http://schemas.openxmlformats.org/officeDocument/2006/relationships/image" Target="../media/image8.png"/><Relationship Id="rId8" Type="http://schemas.openxmlformats.org/officeDocument/2006/relationships/image" Target="../media/image18.png"/><Relationship Id="rId9" Type="http://schemas.openxmlformats.org/officeDocument/2006/relationships/image" Target="../media/image10.png"/><Relationship Id="rId10" Type="http://schemas.openxmlformats.org/officeDocument/2006/relationships/image" Target="../media/image13.png"/><Relationship Id="rId11" Type="http://schemas.openxmlformats.org/officeDocument/2006/relationships/image" Target="../media/image19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Relationship Id="rId3" Type="http://schemas.openxmlformats.org/officeDocument/2006/relationships/image" Target="../media/image9.png"/><Relationship Id="rId4" Type="http://schemas.openxmlformats.org/officeDocument/2006/relationships/image" Target="../media/image3.png"/><Relationship Id="rId5" Type="http://schemas.openxmlformats.org/officeDocument/2006/relationships/image" Target="../media/image1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image" Target="../media/image18.png"/><Relationship Id="rId4" Type="http://schemas.openxmlformats.org/officeDocument/2006/relationships/image" Target="../media/image22.png"/><Relationship Id="rId5" Type="http://schemas.openxmlformats.org/officeDocument/2006/relationships/image" Target="../media/image2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10.png"/><Relationship Id="rId4" Type="http://schemas.openxmlformats.org/officeDocument/2006/relationships/image" Target="../media/image4.png"/><Relationship Id="rId5" Type="http://schemas.openxmlformats.org/officeDocument/2006/relationships/image" Target="../media/image24.png"/><Relationship Id="rId6" Type="http://schemas.openxmlformats.org/officeDocument/2006/relationships/image" Target="../media/image25.png"/><Relationship Id="rId7" Type="http://schemas.openxmlformats.org/officeDocument/2006/relationships/image" Target="../media/image26.png"/><Relationship Id="rId8" Type="http://schemas.openxmlformats.org/officeDocument/2006/relationships/image" Target="../media/image27.png"/><Relationship Id="rId9" Type="http://schemas.openxmlformats.org/officeDocument/2006/relationships/image" Target="../media/image12.png"/><Relationship Id="rId10" Type="http://schemas.openxmlformats.org/officeDocument/2006/relationships/image" Target="../media/image1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28.png"/><Relationship Id="rId4" Type="http://schemas.openxmlformats.org/officeDocument/2006/relationships/image" Target="../media/image29.png"/><Relationship Id="rId5" Type="http://schemas.openxmlformats.org/officeDocument/2006/relationships/image" Target="../media/image2.png"/><Relationship Id="rId6" Type="http://schemas.openxmlformats.org/officeDocument/2006/relationships/image" Target="../media/image12.png"/><Relationship Id="rId7" Type="http://schemas.openxmlformats.org/officeDocument/2006/relationships/image" Target="../media/image14.png"/><Relationship Id="rId8" Type="http://schemas.openxmlformats.org/officeDocument/2006/relationships/image" Target="../media/image30.png"/><Relationship Id="rId9" Type="http://schemas.openxmlformats.org/officeDocument/2006/relationships/image" Target="../media/image17.png"/><Relationship Id="rId10" Type="http://schemas.openxmlformats.org/officeDocument/2006/relationships/image" Target="../media/image3.png"/><Relationship Id="rId11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18.png"/><Relationship Id="rId4" Type="http://schemas.openxmlformats.org/officeDocument/2006/relationships/image" Target="../media/image10.png"/><Relationship Id="rId5" Type="http://schemas.openxmlformats.org/officeDocument/2006/relationships/image" Target="../media/image22.png"/><Relationship Id="rId6" Type="http://schemas.openxmlformats.org/officeDocument/2006/relationships/image" Target="../media/image13.png"/><Relationship Id="rId7" Type="http://schemas.openxmlformats.org/officeDocument/2006/relationships/image" Target="../media/image3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Relationship Id="rId3" Type="http://schemas.openxmlformats.org/officeDocument/2006/relationships/image" Target="../media/image20.png"/><Relationship Id="rId4" Type="http://schemas.openxmlformats.org/officeDocument/2006/relationships/image" Target="../media/image21.png"/><Relationship Id="rId5" Type="http://schemas.openxmlformats.org/officeDocument/2006/relationships/image" Target="../media/image6.png"/><Relationship Id="rId6" Type="http://schemas.openxmlformats.org/officeDocument/2006/relationships/image" Target="../media/image3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image" Target="../media/image4.png"/><Relationship Id="rId4" Type="http://schemas.openxmlformats.org/officeDocument/2006/relationships/image" Target="../media/image3.png"/><Relationship Id="rId5" Type="http://schemas.openxmlformats.org/officeDocument/2006/relationships/image" Target="../media/image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Relationship Id="rId3" Type="http://schemas.openxmlformats.org/officeDocument/2006/relationships/image" Target="../media/image8.png"/><Relationship Id="rId4" Type="http://schemas.openxmlformats.org/officeDocument/2006/relationships/image" Target="../media/image7.png"/><Relationship Id="rId5" Type="http://schemas.openxmlformats.org/officeDocument/2006/relationships/image" Target="../media/image13.png"/><Relationship Id="rId6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274320"/>
            <a:ext cx="1645920" cy="411480"/>
          </a:xfrm>
          <a:prstGeom prst="roundRect">
            <a:avLst/>
          </a:prstGeom>
          <a:solidFill>
            <a:srgbClr val="EEF2FF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>
                <a:solidFill>
                  <a:srgbClr val="002E6E"/>
                </a:solidFill>
                <a:latin typeface="Calibri"/>
              </a:rPr>
              <a:t>Team Munim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692640" y="274320"/>
            <a:ext cx="2133295" cy="411480"/>
          </a:xfrm>
          <a:prstGeom prst="roundRect">
            <a:avLst/>
          </a:prstGeom>
          <a:solidFill>
            <a:srgbClr val="FAFBFD"/>
          </a:solidFill>
          <a:ln w="12700">
            <a:solidFill>
              <a:srgbClr val="002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002E6E"/>
                </a:solidFill>
                <a:latin typeface="Calibri"/>
              </a:rPr>
              <a:t>Paytm AI Hackathon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03120" y="182880"/>
            <a:ext cx="7498079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200" b="1">
                <a:solidFill>
                  <a:srgbClr val="002E6E"/>
                </a:solidFill>
                <a:latin typeface="Georgia"/>
              </a:rPr>
              <a:t>MUNIM (मुनीम)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005840"/>
            <a:ext cx="5669280" cy="52120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115568"/>
            <a:ext cx="539496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500" b="1">
                <a:solidFill>
                  <a:srgbClr val="002E6E"/>
                </a:solidFill>
                <a:latin typeface="Calibri"/>
              </a:rPr>
              <a:t>PROJECT OVERVIEW</a:t>
            </a:r>
          </a:p>
          <a:p>
            <a:r>
              <a:rPr sz="1100" i="1">
                <a:solidFill>
                  <a:srgbClr val="64748B"/>
                </a:solidFill>
                <a:latin typeface="Calibri"/>
              </a:rPr>
              <a:t>Paytm AI Partner Hackathon 2026 Submission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91640"/>
            <a:ext cx="5303520" cy="777240"/>
          </a:xfrm>
          <a:prstGeom prst="roundRect">
            <a:avLst/>
          </a:prstGeom>
          <a:solidFill>
            <a:srgbClr val="E4F1FC"/>
          </a:solidFill>
          <a:ln w="15240">
            <a:solidFill>
              <a:srgbClr val="2A7B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41248" y="1888236"/>
            <a:ext cx="384048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A7B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spark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256" y="1952244"/>
            <a:ext cx="256032" cy="25603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298448" y="1691640"/>
            <a:ext cx="4663440" cy="777240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300" b="1">
                <a:solidFill>
                  <a:srgbClr val="002E6E"/>
                </a:solidFill>
                <a:latin typeface="Calibri"/>
              </a:rPr>
              <a:t>Problem Theme</a:t>
            </a:r>
          </a:p>
          <a:p>
            <a:pPr>
              <a:lnSpc>
                <a:spcPct val="100000"/>
              </a:lnSpc>
            </a:pPr>
            <a:r>
              <a:rPr sz="1200">
                <a:solidFill>
                  <a:srgbClr val="1F2A44"/>
                </a:solidFill>
                <a:latin typeface="Calibri"/>
              </a:rPr>
              <a:t>Build the AI business partner for every Paytm merchant to increase sales, understand business, and execute right actions.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560320"/>
            <a:ext cx="5303520" cy="77724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41248" y="2756916"/>
            <a:ext cx="384048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bo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5256" y="2820924"/>
            <a:ext cx="256032" cy="25603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298448" y="2560320"/>
            <a:ext cx="4663440" cy="777240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300" b="1">
                <a:solidFill>
                  <a:srgbClr val="002E6E"/>
                </a:solidFill>
                <a:latin typeface="Calibri"/>
              </a:rPr>
              <a:t>Product Name</a:t>
            </a:r>
          </a:p>
          <a:p>
            <a:pPr>
              <a:lnSpc>
                <a:spcPct val="100000"/>
              </a:lnSpc>
            </a:pPr>
            <a:r>
              <a:rPr sz="1200">
                <a:solidFill>
                  <a:srgbClr val="1F2A44"/>
                </a:solidFill>
                <a:latin typeface="Calibri"/>
              </a:rPr>
              <a:t>Munim (मुनीम) — Voice-first AI copilot for small Indian shopkeepers.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429000"/>
            <a:ext cx="5303520" cy="777240"/>
          </a:xfrm>
          <a:prstGeom prst="roundRect">
            <a:avLst/>
          </a:prstGeom>
          <a:solidFill>
            <a:srgbClr val="E4F1FC"/>
          </a:solidFill>
          <a:ln w="15240">
            <a:solidFill>
              <a:srgbClr val="2A7B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41248" y="3625596"/>
            <a:ext cx="384048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A7B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cpu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5256" y="3689604"/>
            <a:ext cx="256032" cy="256032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298448" y="3429000"/>
            <a:ext cx="4663440" cy="777240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300" b="1">
                <a:solidFill>
                  <a:srgbClr val="002E6E"/>
                </a:solidFill>
                <a:latin typeface="Calibri"/>
              </a:rPr>
              <a:t>PS Category</a:t>
            </a:r>
          </a:p>
          <a:p>
            <a:pPr>
              <a:lnSpc>
                <a:spcPct val="100000"/>
              </a:lnSpc>
            </a:pPr>
            <a:r>
              <a:rPr sz="1200">
                <a:solidFill>
                  <a:srgbClr val="1F2A44"/>
                </a:solidFill>
                <a:latin typeface="Calibri"/>
              </a:rPr>
              <a:t>Software / AI Copilot (Deterministic Analytics &amp; Decision Engine).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4297680"/>
            <a:ext cx="5303520" cy="77724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41248" y="4494276"/>
            <a:ext cx="384048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volume-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5256" y="4558284"/>
            <a:ext cx="256032" cy="256032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298448" y="4297680"/>
            <a:ext cx="4663440" cy="777240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300" b="1">
                <a:solidFill>
                  <a:srgbClr val="002E6E"/>
                </a:solidFill>
                <a:latin typeface="Calibri"/>
              </a:rPr>
              <a:t>Operating Channel</a:t>
            </a:r>
          </a:p>
          <a:p>
            <a:pPr>
              <a:lnSpc>
                <a:spcPct val="100000"/>
              </a:lnSpc>
            </a:pPr>
            <a:r>
              <a:rPr sz="1200">
                <a:solidFill>
                  <a:srgbClr val="1F2A44"/>
                </a:solidFill>
                <a:latin typeface="Calibri"/>
              </a:rPr>
              <a:t>Output-only Soundbox speaker at counter + merchant smartphone app.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5166360"/>
            <a:ext cx="5303520" cy="777240"/>
          </a:xfrm>
          <a:prstGeom prst="roundRect">
            <a:avLst/>
          </a:prstGeom>
          <a:solidFill>
            <a:srgbClr val="E4F1FC"/>
          </a:solidFill>
          <a:ln w="15240">
            <a:solidFill>
              <a:srgbClr val="2A7B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41248" y="5362956"/>
            <a:ext cx="384048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A7B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user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5256" y="5426964"/>
            <a:ext cx="256032" cy="256032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1298448" y="5166360"/>
            <a:ext cx="4663440" cy="777240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300" b="1">
                <a:solidFill>
                  <a:srgbClr val="002E6E"/>
                </a:solidFill>
                <a:latin typeface="Calibri"/>
              </a:rPr>
              <a:t>Submitting Team</a:t>
            </a:r>
          </a:p>
          <a:p>
            <a:pPr>
              <a:lnSpc>
                <a:spcPct val="100000"/>
              </a:lnSpc>
            </a:pPr>
            <a:r>
              <a:rPr sz="1200">
                <a:solidFill>
                  <a:srgbClr val="1F2A44"/>
                </a:solidFill>
                <a:latin typeface="Calibri"/>
              </a:rPr>
              <a:t>Team Munim — Pair-programmed prototype built strictly for Paytm merchants.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92240" y="1005840"/>
            <a:ext cx="5120640" cy="39319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2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hom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65392" y="1078992"/>
            <a:ext cx="4974336" cy="3785616"/>
          </a:xfrm>
          <a:prstGeom prst="rect">
            <a:avLst/>
          </a:prstGeom>
        </p:spPr>
      </p:pic>
      <p:sp>
        <p:nvSpPr>
          <p:cNvPr id="29" name="Rounded Rectangle 28"/>
          <p:cNvSpPr/>
          <p:nvPr/>
        </p:nvSpPr>
        <p:spPr>
          <a:xfrm>
            <a:off x="7772400" y="4809744"/>
            <a:ext cx="2560320" cy="256032"/>
          </a:xfrm>
          <a:prstGeom prst="roundRect">
            <a:avLst/>
          </a:prstGeom>
          <a:solidFill>
            <a:srgbClr val="002E6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Working prototype, simulated data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92240" y="5120640"/>
            <a:ext cx="5120640" cy="1097280"/>
          </a:xfrm>
          <a:prstGeom prst="roundRect">
            <a:avLst/>
          </a:prstGeom>
          <a:solidFill>
            <a:srgbClr val="E6F6EE"/>
          </a:solidFill>
          <a:ln w="15240">
            <a:solidFill>
              <a:srgbClr val="2E9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601968" y="5477256"/>
            <a:ext cx="384048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E9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shield-check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65976" y="5541264"/>
            <a:ext cx="256032" cy="256032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7059168" y="5120640"/>
            <a:ext cx="4480560" cy="1097280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300" b="1">
                <a:solidFill>
                  <a:srgbClr val="002E6E"/>
                </a:solidFill>
                <a:latin typeface="Calibri"/>
              </a:rPr>
              <a:t>Deterministic Financial Security</a:t>
            </a:r>
          </a:p>
          <a:p>
            <a:pPr>
              <a:lnSpc>
                <a:spcPct val="100000"/>
              </a:lnSpc>
            </a:pPr>
            <a:r>
              <a:rPr sz="1200">
                <a:solidFill>
                  <a:srgbClr val="1F2A44"/>
                </a:solidFill>
                <a:latin typeface="Calibri"/>
              </a:rPr>
              <a:t>LLM never computes math. 0 numeric errors across 50 financial QA benchmarks.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B5C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>
                <a:solidFill>
                  <a:srgbClr val="FFFFFF"/>
                </a:solidFill>
                <a:latin typeface="Calibri"/>
              </a:rPr>
              <a:t>Paytm AI Partner Hackathon 2026 | Munim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155680" y="6492240"/>
            <a:ext cx="73152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274320"/>
            <a:ext cx="1645920" cy="411480"/>
          </a:xfrm>
          <a:prstGeom prst="roundRect">
            <a:avLst/>
          </a:prstGeom>
          <a:solidFill>
            <a:srgbClr val="EEF2FF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>
                <a:solidFill>
                  <a:srgbClr val="002E6E"/>
                </a:solidFill>
                <a:latin typeface="Calibri"/>
              </a:rPr>
              <a:t>Team Munim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692640" y="274320"/>
            <a:ext cx="2133295" cy="411480"/>
          </a:xfrm>
          <a:prstGeom prst="roundRect">
            <a:avLst/>
          </a:prstGeom>
          <a:solidFill>
            <a:srgbClr val="FAFBFD"/>
          </a:solidFill>
          <a:ln w="12700">
            <a:solidFill>
              <a:srgbClr val="002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002E6E"/>
                </a:solidFill>
                <a:latin typeface="Calibri"/>
              </a:rPr>
              <a:t>Paytm AI Hackathon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03120" y="182880"/>
            <a:ext cx="7498079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600" b="1">
                <a:solidFill>
                  <a:srgbClr val="002E6E"/>
                </a:solidFill>
                <a:latin typeface="Georgia"/>
              </a:rPr>
              <a:t>PROPOSAL: Voice-First AI Operating Loop for Paytm Merchants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005840"/>
            <a:ext cx="5577840" cy="15087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115568"/>
            <a:ext cx="530352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500" b="1">
                <a:solidFill>
                  <a:srgbClr val="002E6E"/>
                </a:solidFill>
                <a:latin typeface="Calibri"/>
              </a:rPr>
              <a:t>01 Understand: Continuous Store Signals</a:t>
            </a:r>
          </a:p>
          <a:p>
            <a:r>
              <a:rPr sz="1100" i="1">
                <a:solidFill>
                  <a:srgbClr val="64748B"/>
                </a:solidFill>
                <a:latin typeface="Calibri"/>
              </a:rPr>
              <a:t>Real-time UPI telemetry and evening cash expense recording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00200"/>
            <a:ext cx="1600200" cy="777240"/>
          </a:xfrm>
          <a:prstGeom prst="roundRect">
            <a:avLst/>
          </a:prstGeom>
          <a:solidFill>
            <a:srgbClr val="E4F1FC"/>
          </a:solidFill>
          <a:ln w="15240">
            <a:solidFill>
              <a:srgbClr val="2A7B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76072" y="1833372"/>
            <a:ext cx="310896" cy="3108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A7B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activ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" y="1879092"/>
            <a:ext cx="219456" cy="21945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60120" y="1600200"/>
            <a:ext cx="1069848" cy="777240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100" b="1">
                <a:solidFill>
                  <a:srgbClr val="002E6E"/>
                </a:solidFill>
                <a:latin typeface="Calibri"/>
              </a:rPr>
              <a:t>UPI Stream</a:t>
            </a:r>
          </a:p>
          <a:p>
            <a:pPr>
              <a:lnSpc>
                <a:spcPct val="100000"/>
              </a:lnSpc>
            </a:pPr>
            <a:r>
              <a:rPr sz="1000">
                <a:solidFill>
                  <a:srgbClr val="1F2A44"/>
                </a:solidFill>
                <a:latin typeface="Calibri"/>
              </a:rPr>
              <a:t>Live incoming digital payment feed.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2148840" y="1874519"/>
            <a:ext cx="182880" cy="182880"/>
          </a:xfrm>
          <a:prstGeom prst="rightArrow">
            <a:avLst/>
          </a:prstGeom>
          <a:solidFill>
            <a:srgbClr val="00BA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377440" y="1600200"/>
            <a:ext cx="1600200" cy="777240"/>
          </a:xfrm>
          <a:prstGeom prst="roundRect">
            <a:avLst/>
          </a:prstGeom>
          <a:solidFill>
            <a:srgbClr val="E4F1FC"/>
          </a:solidFill>
          <a:ln w="15240">
            <a:solidFill>
              <a:srgbClr val="2A7B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450592" y="1833372"/>
            <a:ext cx="310896" cy="3108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A7B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chart-colum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96312" y="1879092"/>
            <a:ext cx="219456" cy="219456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2834640" y="1600200"/>
            <a:ext cx="1069848" cy="777240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100" b="1">
                <a:solidFill>
                  <a:srgbClr val="002E6E"/>
                </a:solidFill>
                <a:latin typeface="Calibri"/>
              </a:rPr>
              <a:t>Item Inference</a:t>
            </a:r>
          </a:p>
          <a:p>
            <a:pPr>
              <a:lnSpc>
                <a:spcPct val="100000"/>
              </a:lnSpc>
            </a:pPr>
            <a:r>
              <a:rPr sz="1000">
                <a:solidFill>
                  <a:srgbClr val="1F2A44"/>
                </a:solidFill>
                <a:latin typeface="Calibri"/>
              </a:rPr>
              <a:t>Clusters amounts to menu items.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4023360" y="1874519"/>
            <a:ext cx="182880" cy="182880"/>
          </a:xfrm>
          <a:prstGeom prst="rightArrow">
            <a:avLst/>
          </a:prstGeom>
          <a:solidFill>
            <a:srgbClr val="00BA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251960" y="1600200"/>
            <a:ext cx="1554480" cy="777240"/>
          </a:xfrm>
          <a:prstGeom prst="roundRect">
            <a:avLst/>
          </a:prstGeom>
          <a:solidFill>
            <a:srgbClr val="FDEEE0"/>
          </a:solidFill>
          <a:ln w="15240">
            <a:solidFill>
              <a:srgbClr val="E08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325112" y="1833372"/>
            <a:ext cx="310896" cy="3108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8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trending-u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70832" y="1879092"/>
            <a:ext cx="219456" cy="219456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4709160" y="1600200"/>
            <a:ext cx="1024128" cy="777240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100" b="1">
                <a:solidFill>
                  <a:srgbClr val="002E6E"/>
                </a:solidFill>
                <a:latin typeface="Calibri"/>
              </a:rPr>
              <a:t>Footfall</a:t>
            </a:r>
          </a:p>
          <a:p>
            <a:pPr>
              <a:lnSpc>
                <a:spcPct val="100000"/>
              </a:lnSpc>
            </a:pPr>
            <a:r>
              <a:rPr sz="1000">
                <a:solidFill>
                  <a:srgbClr val="1F2A44"/>
                </a:solidFill>
                <a:latin typeface="Calibri"/>
              </a:rPr>
              <a:t>Z-score rush surge tracking.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5760" y="2651760"/>
            <a:ext cx="5577840" cy="15087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2761488"/>
            <a:ext cx="530352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500" b="1">
                <a:solidFill>
                  <a:srgbClr val="002E6E"/>
                </a:solidFill>
                <a:latin typeface="Calibri"/>
              </a:rPr>
              <a:t>02 Recommend: Opportunities &amp; Safety</a:t>
            </a:r>
          </a:p>
          <a:p>
            <a:r>
              <a:rPr sz="1100" i="1">
                <a:solidFill>
                  <a:srgbClr val="64748B"/>
                </a:solidFill>
                <a:latin typeface="Calibri"/>
              </a:rPr>
              <a:t>Identifies demand spikes while actively suppressing unprofitable actions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3246120"/>
            <a:ext cx="1600200" cy="777240"/>
          </a:xfrm>
          <a:prstGeom prst="roundRect">
            <a:avLst/>
          </a:prstGeom>
          <a:solidFill>
            <a:srgbClr val="FDEEE0"/>
          </a:solidFill>
          <a:ln w="15240">
            <a:solidFill>
              <a:srgbClr val="E08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576072" y="3479292"/>
            <a:ext cx="310896" cy="3108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8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bel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792" y="3525012"/>
            <a:ext cx="219456" cy="219456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960120" y="3246120"/>
            <a:ext cx="1069848" cy="777240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100" b="1">
                <a:solidFill>
                  <a:srgbClr val="002E6E"/>
                </a:solidFill>
                <a:latin typeface="Calibri"/>
              </a:rPr>
              <a:t>Rush Alerts</a:t>
            </a:r>
          </a:p>
          <a:p>
            <a:pPr>
              <a:lnSpc>
                <a:spcPct val="100000"/>
              </a:lnSpc>
            </a:pPr>
            <a:r>
              <a:rPr sz="1000">
                <a:solidFill>
                  <a:srgbClr val="1F2A44"/>
                </a:solidFill>
                <a:latin typeface="Calibri"/>
              </a:rPr>
              <a:t>Stock prep alerts 30 min ahead.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2148840" y="3520440"/>
            <a:ext cx="182880" cy="182880"/>
          </a:xfrm>
          <a:prstGeom prst="rightArrow">
            <a:avLst/>
          </a:prstGeom>
          <a:solidFill>
            <a:srgbClr val="00BA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2377440" y="3246120"/>
            <a:ext cx="1600200" cy="777240"/>
          </a:xfrm>
          <a:prstGeom prst="roundRect">
            <a:avLst/>
          </a:prstGeom>
          <a:solidFill>
            <a:srgbClr val="EDE9F8"/>
          </a:solidFill>
          <a:ln w="15240">
            <a:solidFill>
              <a:srgbClr val="6C5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2450592" y="3479292"/>
            <a:ext cx="310896" cy="3108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C5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shiel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96312" y="3525012"/>
            <a:ext cx="219456" cy="219456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2834640" y="3246120"/>
            <a:ext cx="1069848" cy="777240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100" b="1">
                <a:solidFill>
                  <a:srgbClr val="002E6E"/>
                </a:solidFill>
                <a:latin typeface="Calibri"/>
              </a:rPr>
              <a:t>Don't Act</a:t>
            </a:r>
          </a:p>
          <a:p>
            <a:pPr>
              <a:lnSpc>
                <a:spcPct val="100000"/>
              </a:lnSpc>
            </a:pPr>
            <a:r>
              <a:rPr sz="1000">
                <a:solidFill>
                  <a:srgbClr val="1F2A44"/>
                </a:solidFill>
                <a:latin typeface="Calibri"/>
              </a:rPr>
              <a:t>Protects margins during lunch peaks.</a:t>
            </a:r>
          </a:p>
        </p:txBody>
      </p:sp>
      <p:sp>
        <p:nvSpPr>
          <p:cNvPr id="32" name="Right Arrow 31"/>
          <p:cNvSpPr/>
          <p:nvPr/>
        </p:nvSpPr>
        <p:spPr>
          <a:xfrm>
            <a:off x="4023360" y="3520440"/>
            <a:ext cx="182880" cy="182880"/>
          </a:xfrm>
          <a:prstGeom prst="rightArrow">
            <a:avLst/>
          </a:prstGeom>
          <a:solidFill>
            <a:srgbClr val="00BA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4251960" y="3246120"/>
            <a:ext cx="1554480" cy="777240"/>
          </a:xfrm>
          <a:prstGeom prst="roundRect">
            <a:avLst/>
          </a:prstGeom>
          <a:solidFill>
            <a:srgbClr val="EDE9F8"/>
          </a:solidFill>
          <a:ln w="15240">
            <a:solidFill>
              <a:srgbClr val="6C5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4325112" y="3479292"/>
            <a:ext cx="310896" cy="3108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C5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Picture 34" descr="chart-pi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70832" y="3525012"/>
            <a:ext cx="219456" cy="219456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4709160" y="3246120"/>
            <a:ext cx="1024128" cy="777240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100" b="1">
                <a:solidFill>
                  <a:srgbClr val="002E6E"/>
                </a:solidFill>
                <a:latin typeface="Calibri"/>
              </a:rPr>
              <a:t>Munim Score</a:t>
            </a:r>
          </a:p>
          <a:p>
            <a:pPr>
              <a:lnSpc>
                <a:spcPct val="100000"/>
              </a:lnSpc>
            </a:pPr>
            <a:r>
              <a:rPr sz="1000">
                <a:solidFill>
                  <a:srgbClr val="1F2A44"/>
                </a:solidFill>
                <a:latin typeface="Calibri"/>
              </a:rPr>
              <a:t>5-factor credit readiness index.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65760" y="4297680"/>
            <a:ext cx="5577840" cy="15087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02920" y="4407408"/>
            <a:ext cx="530352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500" b="1">
                <a:solidFill>
                  <a:srgbClr val="002E6E"/>
                </a:solidFill>
                <a:latin typeface="Calibri"/>
              </a:rPr>
              <a:t>03 Act &amp; Measure: Ambient Execution</a:t>
            </a:r>
          </a:p>
          <a:p>
            <a:r>
              <a:rPr sz="1100" i="1">
                <a:solidFill>
                  <a:srgbClr val="64748B"/>
                </a:solidFill>
                <a:latin typeface="Calibri"/>
              </a:rPr>
              <a:t>Audio broadcast on counter followed by explicit mobile approval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02920" y="4892040"/>
            <a:ext cx="1600200" cy="777240"/>
          </a:xfrm>
          <a:prstGeom prst="roundRect">
            <a:avLst/>
          </a:prstGeom>
          <a:solidFill>
            <a:srgbClr val="FDEEE0"/>
          </a:solidFill>
          <a:ln w="15240">
            <a:solidFill>
              <a:srgbClr val="E08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576072" y="5125212"/>
            <a:ext cx="310896" cy="3108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8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1" name="Picture 40" descr="volume-2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1792" y="5170932"/>
            <a:ext cx="219456" cy="219456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960120" y="4892040"/>
            <a:ext cx="1069848" cy="777240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100" b="1">
                <a:solidFill>
                  <a:srgbClr val="002E6E"/>
                </a:solidFill>
                <a:latin typeface="Calibri"/>
              </a:rPr>
              <a:t>Soundbox TTS</a:t>
            </a:r>
          </a:p>
          <a:p>
            <a:pPr>
              <a:lnSpc>
                <a:spcPct val="100000"/>
              </a:lnSpc>
            </a:pPr>
            <a:r>
              <a:rPr sz="1000">
                <a:solidFill>
                  <a:srgbClr val="1F2A44"/>
                </a:solidFill>
                <a:latin typeface="Calibri"/>
              </a:rPr>
              <a:t>Hinglish audio voice announcements.</a:t>
            </a:r>
          </a:p>
        </p:txBody>
      </p:sp>
      <p:sp>
        <p:nvSpPr>
          <p:cNvPr id="43" name="Right Arrow 42"/>
          <p:cNvSpPr/>
          <p:nvPr/>
        </p:nvSpPr>
        <p:spPr>
          <a:xfrm>
            <a:off x="2148840" y="5166360"/>
            <a:ext cx="182880" cy="182880"/>
          </a:xfrm>
          <a:prstGeom prst="rightArrow">
            <a:avLst/>
          </a:prstGeom>
          <a:solidFill>
            <a:srgbClr val="00BA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2377440" y="4892040"/>
            <a:ext cx="1600200" cy="777240"/>
          </a:xfrm>
          <a:prstGeom prst="roundRect">
            <a:avLst/>
          </a:prstGeom>
          <a:solidFill>
            <a:srgbClr val="E6F6EE"/>
          </a:solidFill>
          <a:ln w="15240">
            <a:solidFill>
              <a:srgbClr val="2E9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2450592" y="5125212"/>
            <a:ext cx="310896" cy="3108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E9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6" name="Picture 45" descr="smartphon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96312" y="5170932"/>
            <a:ext cx="219456" cy="219456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2834640" y="4892040"/>
            <a:ext cx="1069848" cy="777240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100" b="1">
                <a:solidFill>
                  <a:srgbClr val="002E6E"/>
                </a:solidFill>
                <a:latin typeface="Calibri"/>
              </a:rPr>
              <a:t>1-Tap Approval</a:t>
            </a:r>
          </a:p>
          <a:p>
            <a:pPr>
              <a:lnSpc>
                <a:spcPct val="100000"/>
              </a:lnSpc>
            </a:pPr>
            <a:r>
              <a:rPr sz="1000">
                <a:solidFill>
                  <a:srgbClr val="1F2A44"/>
                </a:solidFill>
                <a:latin typeface="Calibri"/>
              </a:rPr>
              <a:t>Mandatory mobile approval gate.</a:t>
            </a:r>
          </a:p>
        </p:txBody>
      </p:sp>
      <p:sp>
        <p:nvSpPr>
          <p:cNvPr id="48" name="Right Arrow 47"/>
          <p:cNvSpPr/>
          <p:nvPr/>
        </p:nvSpPr>
        <p:spPr>
          <a:xfrm>
            <a:off x="4023360" y="5166360"/>
            <a:ext cx="182880" cy="182880"/>
          </a:xfrm>
          <a:prstGeom prst="rightArrow">
            <a:avLst/>
          </a:prstGeom>
          <a:solidFill>
            <a:srgbClr val="00BA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4251960" y="4892040"/>
            <a:ext cx="1554480" cy="777240"/>
          </a:xfrm>
          <a:prstGeom prst="roundRect">
            <a:avLst/>
          </a:prstGeom>
          <a:solidFill>
            <a:srgbClr val="E6F6EE"/>
          </a:solidFill>
          <a:ln w="15240">
            <a:solidFill>
              <a:srgbClr val="2E9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4325112" y="5125212"/>
            <a:ext cx="310896" cy="3108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E9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1" name="Picture 50" descr="trending-u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70832" y="5170932"/>
            <a:ext cx="219456" cy="219456"/>
          </a:xfrm>
          <a:prstGeom prst="rect">
            <a:avLst/>
          </a:prstGeom>
        </p:spPr>
      </p:pic>
      <p:sp>
        <p:nvSpPr>
          <p:cNvPr id="52" name="TextBox 51"/>
          <p:cNvSpPr txBox="1"/>
          <p:nvPr/>
        </p:nvSpPr>
        <p:spPr>
          <a:xfrm>
            <a:off x="4709160" y="4892040"/>
            <a:ext cx="1024128" cy="777240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100" b="1">
                <a:solidFill>
                  <a:srgbClr val="002E6E"/>
                </a:solidFill>
                <a:latin typeface="Calibri"/>
              </a:rPr>
              <a:t>Measure Uplift</a:t>
            </a:r>
          </a:p>
          <a:p>
            <a:pPr>
              <a:lnSpc>
                <a:spcPct val="100000"/>
              </a:lnSpc>
            </a:pPr>
            <a:r>
              <a:rPr sz="1000">
                <a:solidFill>
                  <a:srgbClr val="1F2A44"/>
                </a:solidFill>
                <a:latin typeface="Calibri"/>
              </a:rPr>
              <a:t>Simulated campaign revenue vs holdout.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6035040" y="1005840"/>
            <a:ext cx="5760720" cy="36576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2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4" name="Picture 53" descr="soundbox_split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108192" y="1078992"/>
            <a:ext cx="5614416" cy="3511296"/>
          </a:xfrm>
          <a:prstGeom prst="rect">
            <a:avLst/>
          </a:prstGeom>
        </p:spPr>
      </p:pic>
      <p:sp>
        <p:nvSpPr>
          <p:cNvPr id="55" name="Rounded Rectangle 54"/>
          <p:cNvSpPr/>
          <p:nvPr/>
        </p:nvSpPr>
        <p:spPr>
          <a:xfrm>
            <a:off x="7635240" y="4535424"/>
            <a:ext cx="2560320" cy="256032"/>
          </a:xfrm>
          <a:prstGeom prst="roundRect">
            <a:avLst/>
          </a:prstGeom>
          <a:solidFill>
            <a:srgbClr val="002E6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Integrated Merchant View (Prototype, simulated data)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6035040" y="4983480"/>
            <a:ext cx="5760720" cy="13716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172200" y="5093208"/>
            <a:ext cx="54864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500" b="1">
                <a:solidFill>
                  <a:srgbClr val="002E6E"/>
                </a:solidFill>
                <a:latin typeface="Calibri"/>
              </a:rPr>
              <a:t>CORE OPERATIONAL PRINCIPLES</a:t>
            </a:r>
          </a:p>
          <a:p>
            <a:r>
              <a:rPr sz="1100" i="1">
                <a:solidFill>
                  <a:srgbClr val="64748B"/>
                </a:solidFill>
                <a:latin typeface="Calibri"/>
              </a:rPr>
              <a:t>Engineered specifically for non-tech-savvy micro-merchants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6172200" y="5440680"/>
            <a:ext cx="1783080" cy="777240"/>
          </a:xfrm>
          <a:prstGeom prst="roundRect">
            <a:avLst/>
          </a:prstGeom>
          <a:solidFill>
            <a:srgbClr val="FDEEE0"/>
          </a:solidFill>
          <a:ln w="15240">
            <a:solidFill>
              <a:srgbClr val="E08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ounded Rectangle 58"/>
          <p:cNvSpPr/>
          <p:nvPr/>
        </p:nvSpPr>
        <p:spPr>
          <a:xfrm>
            <a:off x="6245352" y="5673852"/>
            <a:ext cx="310896" cy="3108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8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0" name="Picture 59" descr="volume-2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91072" y="5719572"/>
            <a:ext cx="219456" cy="219456"/>
          </a:xfrm>
          <a:prstGeom prst="rect">
            <a:avLst/>
          </a:prstGeom>
        </p:spPr>
      </p:pic>
      <p:sp>
        <p:nvSpPr>
          <p:cNvPr id="61" name="TextBox 60"/>
          <p:cNvSpPr txBox="1"/>
          <p:nvPr/>
        </p:nvSpPr>
        <p:spPr>
          <a:xfrm>
            <a:off x="6629400" y="5440680"/>
            <a:ext cx="1252728" cy="777240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100" b="1">
                <a:solidFill>
                  <a:srgbClr val="002E6E"/>
                </a:solidFill>
                <a:latin typeface="Calibri"/>
              </a:rPr>
              <a:t>Soundbox Speaks</a:t>
            </a:r>
          </a:p>
          <a:p>
            <a:pPr>
              <a:lnSpc>
                <a:spcPct val="100000"/>
              </a:lnSpc>
            </a:pPr>
            <a:r>
              <a:rPr sz="1000">
                <a:solidFill>
                  <a:srgbClr val="1F2A44"/>
                </a:solidFill>
                <a:latin typeface="Calibri"/>
              </a:rPr>
              <a:t>Counter speaker is strictly output-only.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8001000" y="5440680"/>
            <a:ext cx="1783080" cy="777240"/>
          </a:xfrm>
          <a:prstGeom prst="roundRect">
            <a:avLst/>
          </a:prstGeom>
          <a:solidFill>
            <a:srgbClr val="EDE9F8"/>
          </a:solidFill>
          <a:ln w="15240">
            <a:solidFill>
              <a:srgbClr val="6C5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ounded Rectangle 62"/>
          <p:cNvSpPr/>
          <p:nvPr/>
        </p:nvSpPr>
        <p:spPr>
          <a:xfrm>
            <a:off x="8074152" y="5673852"/>
            <a:ext cx="310896" cy="3108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C5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4" name="Picture 63" descr="shield-check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119872" y="5719572"/>
            <a:ext cx="219456" cy="219456"/>
          </a:xfrm>
          <a:prstGeom prst="rect">
            <a:avLst/>
          </a:prstGeom>
        </p:spPr>
      </p:pic>
      <p:sp>
        <p:nvSpPr>
          <p:cNvPr id="65" name="TextBox 64"/>
          <p:cNvSpPr txBox="1"/>
          <p:nvPr/>
        </p:nvSpPr>
        <p:spPr>
          <a:xfrm>
            <a:off x="8458200" y="5440680"/>
            <a:ext cx="1252728" cy="777240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100" b="1">
                <a:solidFill>
                  <a:srgbClr val="002E6E"/>
                </a:solidFill>
                <a:latin typeface="Calibri"/>
              </a:rPr>
              <a:t>Approval Gate</a:t>
            </a:r>
          </a:p>
          <a:p>
            <a:pPr>
              <a:lnSpc>
                <a:spcPct val="100000"/>
              </a:lnSpc>
            </a:pPr>
            <a:r>
              <a:rPr sz="1000">
                <a:solidFill>
                  <a:srgbClr val="1F2A44"/>
                </a:solidFill>
                <a:latin typeface="Calibri"/>
              </a:rPr>
              <a:t>Zero external actions without mobile tap.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9829800" y="5440680"/>
            <a:ext cx="1783080" cy="777240"/>
          </a:xfrm>
          <a:prstGeom prst="roundRect">
            <a:avLst/>
          </a:prstGeom>
          <a:solidFill>
            <a:srgbClr val="E6F6EE"/>
          </a:solidFill>
          <a:ln w="15240">
            <a:solidFill>
              <a:srgbClr val="2E9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ounded Rectangle 66"/>
          <p:cNvSpPr/>
          <p:nvPr/>
        </p:nvSpPr>
        <p:spPr>
          <a:xfrm>
            <a:off x="9902952" y="5673852"/>
            <a:ext cx="310896" cy="3108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E9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8" name="Picture 67" descr="circle-check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948672" y="5719572"/>
            <a:ext cx="219456" cy="219456"/>
          </a:xfrm>
          <a:prstGeom prst="rect">
            <a:avLst/>
          </a:prstGeom>
        </p:spPr>
      </p:pic>
      <p:sp>
        <p:nvSpPr>
          <p:cNvPr id="69" name="TextBox 68"/>
          <p:cNvSpPr txBox="1"/>
          <p:nvPr/>
        </p:nvSpPr>
        <p:spPr>
          <a:xfrm>
            <a:off x="10287000" y="5440680"/>
            <a:ext cx="1252728" cy="777240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100" b="1">
                <a:solidFill>
                  <a:srgbClr val="002E6E"/>
                </a:solidFill>
                <a:latin typeface="Calibri"/>
              </a:rPr>
              <a:t>Honest Limits</a:t>
            </a:r>
          </a:p>
          <a:p>
            <a:pPr>
              <a:lnSpc>
                <a:spcPct val="100000"/>
              </a:lnSpc>
            </a:pPr>
            <a:r>
              <a:rPr sz="1000">
                <a:solidFill>
                  <a:srgbClr val="1F2A44"/>
                </a:solidFill>
                <a:latin typeface="Calibri"/>
              </a:rPr>
              <a:t>Clearly marks assumptions &amp; simulations.</a:t>
            </a:r>
          </a:p>
        </p:txBody>
      </p:sp>
      <p:sp>
        <p:nvSpPr>
          <p:cNvPr id="70" name="Rectangle 69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B5C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>
                <a:solidFill>
                  <a:srgbClr val="FFFFFF"/>
                </a:solidFill>
                <a:latin typeface="Calibri"/>
              </a:rPr>
              <a:t>Paytm AI Partner Hackathon 2026 | Munim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1155680" y="6492240"/>
            <a:ext cx="73152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274320"/>
            <a:ext cx="1645920" cy="411480"/>
          </a:xfrm>
          <a:prstGeom prst="roundRect">
            <a:avLst/>
          </a:prstGeom>
          <a:solidFill>
            <a:srgbClr val="EEF2FF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>
                <a:solidFill>
                  <a:srgbClr val="002E6E"/>
                </a:solidFill>
                <a:latin typeface="Calibri"/>
              </a:rPr>
              <a:t>Team Munim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692640" y="274320"/>
            <a:ext cx="2133295" cy="411480"/>
          </a:xfrm>
          <a:prstGeom prst="roundRect">
            <a:avLst/>
          </a:prstGeom>
          <a:solidFill>
            <a:srgbClr val="FAFBFD"/>
          </a:solidFill>
          <a:ln w="12700">
            <a:solidFill>
              <a:srgbClr val="002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002E6E"/>
                </a:solidFill>
                <a:latin typeface="Calibri"/>
              </a:rPr>
              <a:t>Paytm AI Hackathon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03120" y="182880"/>
            <a:ext cx="7498079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600" b="1">
                <a:solidFill>
                  <a:srgbClr val="002E6E"/>
                </a:solidFill>
                <a:latin typeface="Georgia"/>
              </a:rPr>
              <a:t>TECHNICAL APPROACH: Deterministic Intelligence &amp; Defense-in-Depth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005840"/>
            <a:ext cx="3291840" cy="53035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115568"/>
            <a:ext cx="301752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500" b="1">
                <a:solidFill>
                  <a:srgbClr val="002E6E"/>
                </a:solidFill>
                <a:latin typeface="Calibri"/>
              </a:rPr>
              <a:t>CORE TECHNOLOGY STACK</a:t>
            </a:r>
          </a:p>
          <a:p>
            <a:r>
              <a:rPr sz="1100" i="1">
                <a:solidFill>
                  <a:srgbClr val="64748B"/>
                </a:solidFill>
                <a:latin typeface="Calibri"/>
              </a:rPr>
              <a:t>Lightweight, auditable, CPU-optimized Python stack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45920"/>
            <a:ext cx="2926080" cy="777240"/>
          </a:xfrm>
          <a:prstGeom prst="roundRect">
            <a:avLst/>
          </a:prstGeom>
          <a:solidFill>
            <a:srgbClr val="E4F1FC"/>
          </a:solidFill>
          <a:ln w="15240">
            <a:solidFill>
              <a:srgbClr val="2A7B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58368" y="1842516"/>
            <a:ext cx="384048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A7B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cp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376" y="1906524"/>
            <a:ext cx="256032" cy="25603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115568" y="1645920"/>
            <a:ext cx="2286000" cy="777240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300" b="1">
                <a:solidFill>
                  <a:srgbClr val="002E6E"/>
                </a:solidFill>
                <a:latin typeface="Calibri"/>
              </a:rPr>
              <a:t>Languages</a:t>
            </a:r>
          </a:p>
          <a:p>
            <a:pPr>
              <a:lnSpc>
                <a:spcPct val="100000"/>
              </a:lnSpc>
            </a:pPr>
            <a:r>
              <a:rPr sz="1200">
                <a:solidFill>
                  <a:srgbClr val="1F2A44"/>
                </a:solidFill>
                <a:latin typeface="Calibri"/>
              </a:rPr>
              <a:t>Python 3.12, TypeScript, React 18, FastAPI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514600"/>
            <a:ext cx="2926080" cy="77724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58368" y="2711196"/>
            <a:ext cx="384048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chart-colum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376" y="2775204"/>
            <a:ext cx="256032" cy="25603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115568" y="2514600"/>
            <a:ext cx="2286000" cy="777240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300" b="1">
                <a:solidFill>
                  <a:srgbClr val="002E6E"/>
                </a:solidFill>
                <a:latin typeface="Calibri"/>
              </a:rPr>
              <a:t>Analytics &amp; ML</a:t>
            </a:r>
          </a:p>
          <a:p>
            <a:pPr>
              <a:lnSpc>
                <a:spcPct val="100000"/>
              </a:lnSpc>
            </a:pPr>
            <a:r>
              <a:rPr sz="1200">
                <a:solidFill>
                  <a:srgbClr val="1F2A44"/>
                </a:solidFill>
                <a:latin typeface="Calibri"/>
              </a:rPr>
              <a:t>scikit-learn, NumPy, GMM, Combo Solver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383280"/>
            <a:ext cx="2926080" cy="777240"/>
          </a:xfrm>
          <a:prstGeom prst="roundRect">
            <a:avLst/>
          </a:prstGeom>
          <a:solidFill>
            <a:srgbClr val="E4F1FC"/>
          </a:solidFill>
          <a:ln w="15240">
            <a:solidFill>
              <a:srgbClr val="2A7B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58368" y="3579876"/>
            <a:ext cx="384048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A7B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volume-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2376" y="3643884"/>
            <a:ext cx="256032" cy="256032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115568" y="3383280"/>
            <a:ext cx="2286000" cy="777240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300" b="1">
                <a:solidFill>
                  <a:srgbClr val="002E6E"/>
                </a:solidFill>
                <a:latin typeface="Calibri"/>
              </a:rPr>
              <a:t>Speech &amp; Audio</a:t>
            </a:r>
          </a:p>
          <a:p>
            <a:pPr>
              <a:lnSpc>
                <a:spcPct val="100000"/>
              </a:lnSpc>
            </a:pPr>
            <a:r>
              <a:rPr sz="1200">
                <a:solidFill>
                  <a:srgbClr val="1F2A44"/>
                </a:solidFill>
                <a:latin typeface="Calibri"/>
              </a:rPr>
              <a:t>Kokoro Neural TTS, Hinglish Voice Parser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4251960"/>
            <a:ext cx="2926080" cy="77724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58368" y="4448556"/>
            <a:ext cx="384048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databas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2376" y="4512564"/>
            <a:ext cx="256032" cy="256032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115568" y="4251960"/>
            <a:ext cx="2286000" cy="777240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300" b="1">
                <a:solidFill>
                  <a:srgbClr val="002E6E"/>
                </a:solidFill>
                <a:latin typeface="Calibri"/>
              </a:rPr>
              <a:t>Database &amp; Audit</a:t>
            </a:r>
          </a:p>
          <a:p>
            <a:pPr>
              <a:lnSpc>
                <a:spcPct val="100000"/>
              </a:lnSpc>
            </a:pPr>
            <a:r>
              <a:rPr sz="1200">
                <a:solidFill>
                  <a:srgbClr val="1F2A44"/>
                </a:solidFill>
                <a:latin typeface="Calibri"/>
              </a:rPr>
              <a:t>SQLite (SQLModel), Append-Only Audit Log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5120640"/>
            <a:ext cx="2926080" cy="777240"/>
          </a:xfrm>
          <a:prstGeom prst="roundRect">
            <a:avLst/>
          </a:prstGeom>
          <a:solidFill>
            <a:srgbClr val="E4F1FC"/>
          </a:solidFill>
          <a:ln w="15240">
            <a:solidFill>
              <a:srgbClr val="2A7B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58368" y="5317236"/>
            <a:ext cx="384048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A7B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shield-che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2376" y="5381244"/>
            <a:ext cx="256032" cy="256032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1115568" y="5120640"/>
            <a:ext cx="2286000" cy="777240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300" b="1">
                <a:solidFill>
                  <a:srgbClr val="002E6E"/>
                </a:solidFill>
                <a:latin typeface="Calibri"/>
              </a:rPr>
              <a:t>Safety &amp; Guards</a:t>
            </a:r>
          </a:p>
          <a:p>
            <a:pPr>
              <a:lnSpc>
                <a:spcPct val="100000"/>
              </a:lnSpc>
            </a:pPr>
            <a:r>
              <a:rPr sz="1200">
                <a:solidFill>
                  <a:srgbClr val="1F2A44"/>
                </a:solidFill>
                <a:latin typeface="Calibri"/>
              </a:rPr>
              <a:t>Token-Locked Mock Adapters, Runtime Verifier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840480" y="1005840"/>
            <a:ext cx="7955279" cy="23317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977640" y="1115568"/>
            <a:ext cx="7680959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500" b="1">
                <a:solidFill>
                  <a:srgbClr val="002E6E"/>
                </a:solidFill>
                <a:latin typeface="Calibri"/>
              </a:rPr>
              <a:t>THE PARALLEL DETECTION &amp; ACTION PIPELINE</a:t>
            </a:r>
          </a:p>
          <a:p>
            <a:r>
              <a:rPr sz="1100" i="1">
                <a:solidFill>
                  <a:srgbClr val="64748B"/>
                </a:solidFill>
                <a:latin typeface="Calibri"/>
              </a:rPr>
              <a:t>Defense-in-depth: strict separation between LLM reasoning, math calculation, and execution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977639" y="1572768"/>
            <a:ext cx="1874519" cy="1600200"/>
          </a:xfrm>
          <a:prstGeom prst="roundRect">
            <a:avLst/>
          </a:prstGeom>
          <a:solidFill>
            <a:srgbClr val="E4F1FC"/>
          </a:solidFill>
          <a:ln w="15240">
            <a:solidFill>
              <a:srgbClr val="2A7B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4050791" y="2217420"/>
            <a:ext cx="310896" cy="3108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A7B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activity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096511" y="2263140"/>
            <a:ext cx="219456" cy="219456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4434839" y="1572768"/>
            <a:ext cx="1344167" cy="1600200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100" b="1">
                <a:solidFill>
                  <a:srgbClr val="002E6E"/>
                </a:solidFill>
                <a:latin typeface="Calibri"/>
              </a:rPr>
              <a:t>01 Ingest &amp; Validate</a:t>
            </a:r>
          </a:p>
          <a:p>
            <a:pPr>
              <a:lnSpc>
                <a:spcPct val="100000"/>
              </a:lnSpc>
            </a:pPr>
            <a:r>
              <a:rPr sz="1000">
                <a:solidFill>
                  <a:srgbClr val="1F2A44"/>
                </a:solidFill>
                <a:latin typeface="Calibri"/>
              </a:rPr>
              <a:t>Streams UPI payments &amp; validates daily cash ledger with schema rules.</a:t>
            </a:r>
          </a:p>
        </p:txBody>
      </p:sp>
      <p:sp>
        <p:nvSpPr>
          <p:cNvPr id="33" name="Right Arrow 32"/>
          <p:cNvSpPr/>
          <p:nvPr/>
        </p:nvSpPr>
        <p:spPr>
          <a:xfrm>
            <a:off x="5897880" y="2267712"/>
            <a:ext cx="228600" cy="201168"/>
          </a:xfrm>
          <a:prstGeom prst="rightArrow">
            <a:avLst/>
          </a:prstGeom>
          <a:solidFill>
            <a:srgbClr val="00BA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6172200" y="1572768"/>
            <a:ext cx="1783080" cy="749808"/>
          </a:xfrm>
          <a:prstGeom prst="roundRect">
            <a:avLst/>
          </a:prstGeom>
          <a:solidFill>
            <a:srgbClr val="E4F1FC"/>
          </a:solidFill>
          <a:ln w="15240">
            <a:solidFill>
              <a:srgbClr val="2A7B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6245352" y="1792224"/>
            <a:ext cx="310896" cy="3108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A7B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6" name="Picture 35" descr="chart-colum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1072" y="1837944"/>
            <a:ext cx="219456" cy="219456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6629400" y="1572768"/>
            <a:ext cx="1252728" cy="749808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100" b="1">
                <a:solidFill>
                  <a:srgbClr val="002E6E"/>
                </a:solidFill>
                <a:latin typeface="Calibri"/>
              </a:rPr>
              <a:t>Item Inference</a:t>
            </a:r>
          </a:p>
          <a:p>
            <a:pPr>
              <a:lnSpc>
                <a:spcPct val="100000"/>
              </a:lnSpc>
            </a:pPr>
            <a:r>
              <a:rPr sz="1000">
                <a:solidFill>
                  <a:srgbClr val="1F2A44"/>
                </a:solidFill>
                <a:latin typeface="Calibri"/>
              </a:rPr>
              <a:t>GMM clustering + combo solver.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001000" y="1572768"/>
            <a:ext cx="1783080" cy="749808"/>
          </a:xfrm>
          <a:prstGeom prst="roundRect">
            <a:avLst/>
          </a:prstGeom>
          <a:solidFill>
            <a:srgbClr val="E6F6EE"/>
          </a:solidFill>
          <a:ln w="15240">
            <a:solidFill>
              <a:srgbClr val="2E9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8074152" y="1792224"/>
            <a:ext cx="310896" cy="3108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E9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0" name="Picture 39" descr="book-open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19872" y="1837944"/>
            <a:ext cx="219456" cy="219456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8458200" y="1572768"/>
            <a:ext cx="1252728" cy="749808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100" b="1">
                <a:solidFill>
                  <a:srgbClr val="002E6E"/>
                </a:solidFill>
                <a:latin typeface="Calibri"/>
              </a:rPr>
              <a:t>Bahi-Khata Ledger</a:t>
            </a:r>
          </a:p>
          <a:p>
            <a:pPr>
              <a:lnSpc>
                <a:spcPct val="100000"/>
              </a:lnSpc>
            </a:pPr>
            <a:r>
              <a:rPr sz="1000">
                <a:solidFill>
                  <a:srgbClr val="1F2A44"/>
                </a:solidFill>
                <a:latin typeface="Calibri"/>
              </a:rPr>
              <a:t>True net daily cash profit.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172200" y="2395728"/>
            <a:ext cx="1783080" cy="749808"/>
          </a:xfrm>
          <a:prstGeom prst="roundRect">
            <a:avLst/>
          </a:prstGeom>
          <a:solidFill>
            <a:srgbClr val="FDEEE0"/>
          </a:solidFill>
          <a:ln w="15240">
            <a:solidFill>
              <a:srgbClr val="E08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6245352" y="2615184"/>
            <a:ext cx="310896" cy="3108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8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4" name="Picture 43" descr="trending-up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91072" y="2660904"/>
            <a:ext cx="219456" cy="219456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6629400" y="2395728"/>
            <a:ext cx="1252728" cy="749808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100" b="1">
                <a:solidFill>
                  <a:srgbClr val="002E6E"/>
                </a:solidFill>
                <a:latin typeface="Calibri"/>
              </a:rPr>
              <a:t>Footfall Detector</a:t>
            </a:r>
          </a:p>
          <a:p>
            <a:pPr>
              <a:lnSpc>
                <a:spcPct val="100000"/>
              </a:lnSpc>
            </a:pPr>
            <a:r>
              <a:rPr sz="1000">
                <a:solidFill>
                  <a:srgbClr val="1F2A44"/>
                </a:solidFill>
                <a:latin typeface="Calibri"/>
              </a:rPr>
              <a:t>+2.8σ volume surge analytics.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001000" y="2395728"/>
            <a:ext cx="1783080" cy="749808"/>
          </a:xfrm>
          <a:prstGeom prst="roundRect">
            <a:avLst/>
          </a:prstGeom>
          <a:solidFill>
            <a:srgbClr val="EDE9F8"/>
          </a:solidFill>
          <a:ln w="15240">
            <a:solidFill>
              <a:srgbClr val="6C5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8074152" y="2615184"/>
            <a:ext cx="310896" cy="3108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C5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8" name="Picture 47" descr="chart-pi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119872" y="2660904"/>
            <a:ext cx="219456" cy="219456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8458200" y="2395728"/>
            <a:ext cx="1252728" cy="749808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100" b="1">
                <a:solidFill>
                  <a:srgbClr val="002E6E"/>
                </a:solidFill>
                <a:latin typeface="Calibri"/>
              </a:rPr>
              <a:t>Munim Score Engine</a:t>
            </a:r>
          </a:p>
          <a:p>
            <a:pPr>
              <a:lnSpc>
                <a:spcPct val="100000"/>
              </a:lnSpc>
            </a:pPr>
            <a:r>
              <a:rPr sz="1000">
                <a:solidFill>
                  <a:srgbClr val="1F2A44"/>
                </a:solidFill>
                <a:latin typeface="Calibri"/>
              </a:rPr>
              <a:t>5-factor credit readiness telemetry.</a:t>
            </a:r>
          </a:p>
        </p:txBody>
      </p:sp>
      <p:sp>
        <p:nvSpPr>
          <p:cNvPr id="50" name="Right Arrow 49"/>
          <p:cNvSpPr/>
          <p:nvPr/>
        </p:nvSpPr>
        <p:spPr>
          <a:xfrm>
            <a:off x="9829800" y="2267712"/>
            <a:ext cx="228600" cy="201168"/>
          </a:xfrm>
          <a:prstGeom prst="rightArrow">
            <a:avLst/>
          </a:prstGeom>
          <a:solidFill>
            <a:srgbClr val="00BA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10104120" y="1572768"/>
            <a:ext cx="1554480" cy="1600200"/>
          </a:xfrm>
          <a:prstGeom prst="roundRect">
            <a:avLst/>
          </a:prstGeom>
          <a:solidFill>
            <a:srgbClr val="E6F6EE"/>
          </a:solidFill>
          <a:ln w="15240">
            <a:solidFill>
              <a:srgbClr val="2E9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10177272" y="2217420"/>
            <a:ext cx="310896" cy="3108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E9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3" name="Picture 52" descr="shield-che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22992" y="2263140"/>
            <a:ext cx="219456" cy="219456"/>
          </a:xfrm>
          <a:prstGeom prst="rect">
            <a:avLst/>
          </a:prstGeom>
        </p:spPr>
      </p:pic>
      <p:sp>
        <p:nvSpPr>
          <p:cNvPr id="54" name="TextBox 53"/>
          <p:cNvSpPr txBox="1"/>
          <p:nvPr/>
        </p:nvSpPr>
        <p:spPr>
          <a:xfrm>
            <a:off x="10561320" y="1572768"/>
            <a:ext cx="1024128" cy="1600200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100" b="1">
                <a:solidFill>
                  <a:srgbClr val="002E6E"/>
                </a:solidFill>
                <a:latin typeface="Calibri"/>
              </a:rPr>
              <a:t>03 Guard &amp; Gate</a:t>
            </a:r>
          </a:p>
          <a:p>
            <a:pPr>
              <a:lnSpc>
                <a:spcPct val="100000"/>
              </a:lnSpc>
            </a:pPr>
            <a:r>
              <a:rPr sz="1000">
                <a:solidFill>
                  <a:srgbClr val="1F2A44"/>
                </a:solidFill>
                <a:latin typeface="Calibri"/>
              </a:rPr>
              <a:t>Single-use approval tokens gate external channels.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3840480" y="3474720"/>
            <a:ext cx="3474720" cy="28346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2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6" name="Picture 55" descr="architecture_light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913632" y="3547872"/>
            <a:ext cx="3328416" cy="2688336"/>
          </a:xfrm>
          <a:prstGeom prst="rect">
            <a:avLst/>
          </a:prstGeom>
        </p:spPr>
      </p:pic>
      <p:sp>
        <p:nvSpPr>
          <p:cNvPr id="57" name="Rounded Rectangle 56"/>
          <p:cNvSpPr/>
          <p:nvPr/>
        </p:nvSpPr>
        <p:spPr>
          <a:xfrm>
            <a:off x="4297680" y="6181344"/>
            <a:ext cx="2560320" cy="256032"/>
          </a:xfrm>
          <a:prstGeom prst="roundRect">
            <a:avLst/>
          </a:prstGeom>
          <a:solidFill>
            <a:srgbClr val="002E6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Working prototype architecture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7498079" y="3474720"/>
            <a:ext cx="4297680" cy="28346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635239" y="3584448"/>
            <a:ext cx="402336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500" b="1">
                <a:solidFill>
                  <a:srgbClr val="002E6E"/>
                </a:solidFill>
                <a:latin typeface="Calibri"/>
              </a:rPr>
              <a:t>PROTOTYPE vs. PRODUCTION RAILS</a:t>
            </a:r>
          </a:p>
          <a:p>
            <a:r>
              <a:rPr sz="1100" i="1">
                <a:solidFill>
                  <a:srgbClr val="64748B"/>
                </a:solidFill>
                <a:latin typeface="Calibri"/>
              </a:rPr>
              <a:t>Architectural evolution path for Paytm enterprise scale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680960" y="402336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002E6E"/>
                </a:solidFill>
                <a:latin typeface="Calibri"/>
              </a:rPr>
              <a:t>Compute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7680960" y="4343400"/>
            <a:ext cx="914400" cy="594360"/>
          </a:xfrm>
          <a:prstGeom prst="roundRect">
            <a:avLst/>
          </a:prstGeom>
          <a:solidFill>
            <a:srgbClr val="E4F1FC"/>
          </a:solidFill>
          <a:ln w="12700">
            <a:solidFill>
              <a:srgbClr val="2A7B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002E6E"/>
                </a:solidFill>
                <a:latin typeface="Calibri"/>
              </a:rPr>
              <a:t>Local FastAPI</a:t>
            </a:r>
          </a:p>
        </p:txBody>
      </p:sp>
      <p:sp>
        <p:nvSpPr>
          <p:cNvPr id="62" name="Down Arrow 61"/>
          <p:cNvSpPr/>
          <p:nvPr/>
        </p:nvSpPr>
        <p:spPr>
          <a:xfrm>
            <a:off x="8028432" y="5010912"/>
            <a:ext cx="219456" cy="274320"/>
          </a:xfrm>
          <a:prstGeom prst="downArrow">
            <a:avLst/>
          </a:prstGeom>
          <a:solidFill>
            <a:srgbClr val="00BA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ounded Rectangle 62"/>
          <p:cNvSpPr/>
          <p:nvPr/>
        </p:nvSpPr>
        <p:spPr>
          <a:xfrm>
            <a:off x="7680960" y="5349240"/>
            <a:ext cx="914400" cy="685800"/>
          </a:xfrm>
          <a:prstGeom prst="roundRect">
            <a:avLst/>
          </a:prstGeom>
          <a:solidFill>
            <a:srgbClr val="E6F6EE"/>
          </a:solidFill>
          <a:ln w="12700">
            <a:solidFill>
              <a:srgbClr val="2E9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065F46"/>
                </a:solidFill>
                <a:latin typeface="Calibri"/>
              </a:rPr>
              <a:t>Paytm Cloud Microservices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641080" y="402336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002E6E"/>
                </a:solidFill>
                <a:latin typeface="Calibri"/>
              </a:rPr>
              <a:t>Soundbox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8641080" y="4343400"/>
            <a:ext cx="914400" cy="594360"/>
          </a:xfrm>
          <a:prstGeom prst="roundRect">
            <a:avLst/>
          </a:prstGeom>
          <a:solidFill>
            <a:srgbClr val="E4F1FC"/>
          </a:solidFill>
          <a:ln w="12700">
            <a:solidFill>
              <a:srgbClr val="2A7B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002E6E"/>
                </a:solidFill>
                <a:latin typeface="Calibri"/>
              </a:rPr>
              <a:t>WebSocket Sim</a:t>
            </a:r>
          </a:p>
        </p:txBody>
      </p:sp>
      <p:sp>
        <p:nvSpPr>
          <p:cNvPr id="66" name="Down Arrow 65"/>
          <p:cNvSpPr/>
          <p:nvPr/>
        </p:nvSpPr>
        <p:spPr>
          <a:xfrm>
            <a:off x="8988552" y="5010912"/>
            <a:ext cx="219456" cy="274320"/>
          </a:xfrm>
          <a:prstGeom prst="downArrow">
            <a:avLst/>
          </a:prstGeom>
          <a:solidFill>
            <a:srgbClr val="00BA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ounded Rectangle 66"/>
          <p:cNvSpPr/>
          <p:nvPr/>
        </p:nvSpPr>
        <p:spPr>
          <a:xfrm>
            <a:off x="8641080" y="5349240"/>
            <a:ext cx="914400" cy="685800"/>
          </a:xfrm>
          <a:prstGeom prst="roundRect">
            <a:avLst/>
          </a:prstGeom>
          <a:solidFill>
            <a:srgbClr val="E6F6EE"/>
          </a:solidFill>
          <a:ln w="12700">
            <a:solidFill>
              <a:srgbClr val="2E9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065F46"/>
                </a:solidFill>
                <a:latin typeface="Calibri"/>
              </a:rPr>
              <a:t>Paytm 4G Soundbox MQTT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601200" y="402336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002E6E"/>
                </a:solidFill>
                <a:latin typeface="Calibri"/>
              </a:rPr>
              <a:t>Payments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9601200" y="4343400"/>
            <a:ext cx="914400" cy="594360"/>
          </a:xfrm>
          <a:prstGeom prst="roundRect">
            <a:avLst/>
          </a:prstGeom>
          <a:solidFill>
            <a:srgbClr val="E4F1FC"/>
          </a:solidFill>
          <a:ln w="12700">
            <a:solidFill>
              <a:srgbClr val="2A7B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002E6E"/>
                </a:solidFill>
                <a:latin typeface="Calibri"/>
              </a:rPr>
              <a:t>Synthetic Stream</a:t>
            </a:r>
          </a:p>
        </p:txBody>
      </p:sp>
      <p:sp>
        <p:nvSpPr>
          <p:cNvPr id="70" name="Down Arrow 69"/>
          <p:cNvSpPr/>
          <p:nvPr/>
        </p:nvSpPr>
        <p:spPr>
          <a:xfrm>
            <a:off x="9948672" y="5010912"/>
            <a:ext cx="219456" cy="274320"/>
          </a:xfrm>
          <a:prstGeom prst="downArrow">
            <a:avLst/>
          </a:prstGeom>
          <a:solidFill>
            <a:srgbClr val="00BA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ounded Rectangle 70"/>
          <p:cNvSpPr/>
          <p:nvPr/>
        </p:nvSpPr>
        <p:spPr>
          <a:xfrm>
            <a:off x="9601200" y="5349240"/>
            <a:ext cx="914400" cy="685800"/>
          </a:xfrm>
          <a:prstGeom prst="roundRect">
            <a:avLst/>
          </a:prstGeom>
          <a:solidFill>
            <a:srgbClr val="E6F6EE"/>
          </a:solidFill>
          <a:ln w="12700">
            <a:solidFill>
              <a:srgbClr val="2E9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065F46"/>
                </a:solidFill>
                <a:latin typeface="Calibri"/>
              </a:rPr>
              <a:t>Paytm QR Webhook Engine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0561320" y="402336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002E6E"/>
                </a:solidFill>
                <a:latin typeface="Calibri"/>
              </a:rPr>
              <a:t>Lending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10561320" y="4343400"/>
            <a:ext cx="914400" cy="594360"/>
          </a:xfrm>
          <a:prstGeom prst="roundRect">
            <a:avLst/>
          </a:prstGeom>
          <a:solidFill>
            <a:srgbClr val="E4F1FC"/>
          </a:solidFill>
          <a:ln w="12700">
            <a:solidFill>
              <a:srgbClr val="2A7B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002E6E"/>
                </a:solidFill>
                <a:latin typeface="Calibri"/>
              </a:rPr>
              <a:t>Munim Score</a:t>
            </a:r>
          </a:p>
        </p:txBody>
      </p:sp>
      <p:sp>
        <p:nvSpPr>
          <p:cNvPr id="74" name="Down Arrow 73"/>
          <p:cNvSpPr/>
          <p:nvPr/>
        </p:nvSpPr>
        <p:spPr>
          <a:xfrm>
            <a:off x="10908792" y="5010912"/>
            <a:ext cx="219456" cy="274320"/>
          </a:xfrm>
          <a:prstGeom prst="downArrow">
            <a:avLst/>
          </a:prstGeom>
          <a:solidFill>
            <a:srgbClr val="00BA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ounded Rectangle 74"/>
          <p:cNvSpPr/>
          <p:nvPr/>
        </p:nvSpPr>
        <p:spPr>
          <a:xfrm>
            <a:off x="10561320" y="5349240"/>
            <a:ext cx="914400" cy="685800"/>
          </a:xfrm>
          <a:prstGeom prst="roundRect">
            <a:avLst/>
          </a:prstGeom>
          <a:solidFill>
            <a:srgbClr val="E6F6EE"/>
          </a:solidFill>
          <a:ln w="12700">
            <a:solidFill>
              <a:srgbClr val="2E9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065F46"/>
                </a:solidFill>
                <a:latin typeface="Calibri"/>
              </a:rPr>
              <a:t>Partner Licensed NBFC API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7680960" y="6080760"/>
            <a:ext cx="3931920" cy="201168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i="1">
                <a:solidFill>
                  <a:srgbClr val="64748B"/>
                </a:solidFill>
                <a:latin typeface="Calibri"/>
              </a:rPr>
              <a:t>Production integrations labeled above are architectural roadmap assumptions.</a:t>
            </a:r>
          </a:p>
        </p:txBody>
      </p:sp>
      <p:sp>
        <p:nvSpPr>
          <p:cNvPr id="77" name="Rectangle 76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B5C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>
                <a:solidFill>
                  <a:srgbClr val="FFFFFF"/>
                </a:solidFill>
                <a:latin typeface="Calibri"/>
              </a:rPr>
              <a:t>Paytm AI Partner Hackathon 2026 | Munim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1155680" y="6492240"/>
            <a:ext cx="73152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274320"/>
            <a:ext cx="1645920" cy="411480"/>
          </a:xfrm>
          <a:prstGeom prst="roundRect">
            <a:avLst/>
          </a:prstGeom>
          <a:solidFill>
            <a:srgbClr val="EEF2FF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>
                <a:solidFill>
                  <a:srgbClr val="002E6E"/>
                </a:solidFill>
                <a:latin typeface="Calibri"/>
              </a:rPr>
              <a:t>Team Munim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692640" y="274320"/>
            <a:ext cx="2133295" cy="411480"/>
          </a:xfrm>
          <a:prstGeom prst="roundRect">
            <a:avLst/>
          </a:prstGeom>
          <a:solidFill>
            <a:srgbClr val="FAFBFD"/>
          </a:solidFill>
          <a:ln w="12700">
            <a:solidFill>
              <a:srgbClr val="002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002E6E"/>
                </a:solidFill>
                <a:latin typeface="Calibri"/>
              </a:rPr>
              <a:t>Paytm AI Hackathon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03120" y="182880"/>
            <a:ext cx="7498079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600" b="1">
                <a:solidFill>
                  <a:srgbClr val="002E6E"/>
                </a:solidFill>
                <a:latin typeface="Georgia"/>
              </a:rPr>
              <a:t>ITEM INFERENCE: Unsupervised Menu Discovery Without POS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005840"/>
            <a:ext cx="6035040" cy="4114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2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what_i_se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" y="1078992"/>
            <a:ext cx="5888736" cy="3968496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2103120" y="4992624"/>
            <a:ext cx="2560320" cy="256032"/>
          </a:xfrm>
          <a:prstGeom prst="roundRect">
            <a:avLst/>
          </a:prstGeom>
          <a:solidFill>
            <a:srgbClr val="002E6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What I Sell view: Inferred menu mix with confirmation chips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5257800"/>
            <a:ext cx="6035040" cy="1051560"/>
          </a:xfrm>
          <a:prstGeom prst="roundRect">
            <a:avLst/>
          </a:prstGeom>
          <a:solidFill>
            <a:srgbClr val="E6F6EE"/>
          </a:solidFill>
          <a:ln w="19050">
            <a:solidFill>
              <a:srgbClr val="2E9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5303520"/>
            <a:ext cx="45720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065F46"/>
                </a:solidFill>
                <a:latin typeface="Calibri"/>
              </a:rPr>
              <a:t>EMPIRICAL EVALUATION RESULTS (eval_item_inference.json)</a:t>
            </a:r>
          </a:p>
          <a:p>
            <a:r>
              <a:rPr sz="1000">
                <a:solidFill>
                  <a:srgbClr val="1F2A44"/>
                </a:solidFill>
                <a:latin typeface="Calibri"/>
              </a:rPr>
              <a:t>• Clean Synthetic Price Points: F1 Score = 1.000 (Tested on clean synthetic price points)
• Hard-Case Adversarial Stress Test: F1 Score = 0.588 (Real-world noise &amp; price overlap boundary)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303520" y="5349240"/>
            <a:ext cx="822960" cy="219456"/>
          </a:xfrm>
          <a:prstGeom prst="roundRect">
            <a:avLst/>
          </a:prstGeom>
          <a:solidFill>
            <a:srgbClr val="E2E8F0"/>
          </a:solidFill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tIns="0" rIns="0" bIns="0"/>
          <a:lstStyle/>
          <a:p>
            <a:pPr algn="ctr"/>
            <a:r>
              <a:rPr sz="900" b="1">
                <a:solidFill>
                  <a:srgbClr val="475569"/>
                </a:solidFill>
                <a:latin typeface="Calibri"/>
              </a:rPr>
              <a:t>Simulated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75120" y="1005840"/>
            <a:ext cx="5120640" cy="53035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12280" y="1115568"/>
            <a:ext cx="484632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500" b="1">
                <a:solidFill>
                  <a:srgbClr val="002E6E"/>
                </a:solidFill>
                <a:latin typeface="Calibri"/>
              </a:rPr>
              <a:t>UNSUPERVISED DISCOVERY PIPELINE</a:t>
            </a:r>
          </a:p>
          <a:p>
            <a:r>
              <a:rPr sz="1100" i="1">
                <a:solidFill>
                  <a:srgbClr val="64748B"/>
                </a:solidFill>
                <a:latin typeface="Calibri"/>
              </a:rPr>
              <a:t>Transforms raw UPI transaction streams into item-level catalog intelligence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0" y="1737360"/>
            <a:ext cx="4754880" cy="1051560"/>
          </a:xfrm>
          <a:prstGeom prst="roundRect">
            <a:avLst/>
          </a:prstGeom>
          <a:solidFill>
            <a:srgbClr val="E4F1FC"/>
          </a:solidFill>
          <a:ln w="15240">
            <a:solidFill>
              <a:srgbClr val="2A7B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967728" y="2071116"/>
            <a:ext cx="384048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A7B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chart-colum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31736" y="2135124"/>
            <a:ext cx="256032" cy="256032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424928" y="1737360"/>
            <a:ext cx="4114800" cy="1051560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300" b="1">
                <a:solidFill>
                  <a:srgbClr val="002E6E"/>
                </a:solidFill>
                <a:latin typeface="Calibri"/>
              </a:rPr>
              <a:t>01 Cluster Price Points</a:t>
            </a:r>
          </a:p>
          <a:p>
            <a:pPr>
              <a:lnSpc>
                <a:spcPct val="100000"/>
              </a:lnSpc>
            </a:pPr>
            <a:r>
              <a:rPr sz="1200">
                <a:solidFill>
                  <a:srgbClr val="1F2A44"/>
                </a:solidFill>
                <a:latin typeface="Calibri"/>
              </a:rPr>
              <a:t>Unsupervised Gaussian Mixture Models group transaction amounts into distinct price clusters without manual barcode entry.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0" y="2926080"/>
            <a:ext cx="4754880" cy="1051560"/>
          </a:xfrm>
          <a:prstGeom prst="roundRect">
            <a:avLst/>
          </a:prstGeom>
          <a:solidFill>
            <a:srgbClr val="E4F1FC"/>
          </a:solidFill>
          <a:ln w="15240">
            <a:solidFill>
              <a:srgbClr val="2A7B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967728" y="3259836"/>
            <a:ext cx="384048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A7B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cpu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31736" y="3323844"/>
            <a:ext cx="256032" cy="256032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7424928" y="2926080"/>
            <a:ext cx="4114800" cy="1051560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300" b="1">
                <a:solidFill>
                  <a:srgbClr val="002E6E"/>
                </a:solidFill>
                <a:latin typeface="Calibri"/>
              </a:rPr>
              <a:t>02 Explain Combinations</a:t>
            </a:r>
          </a:p>
          <a:p>
            <a:pPr>
              <a:lnSpc>
                <a:spcPct val="100000"/>
              </a:lnSpc>
            </a:pPr>
            <a:r>
              <a:rPr sz="1200">
                <a:solidFill>
                  <a:srgbClr val="1F2A44"/>
                </a:solidFill>
                <a:latin typeface="Calibri"/>
              </a:rPr>
              <a:t>Combinatorial subset solver decomposes multi-item order totals (e.g. ₹50 = ₹20 Chai + ₹30 Bun Maska) into candidate items.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0" y="4114800"/>
            <a:ext cx="4754880" cy="1051560"/>
          </a:xfrm>
          <a:prstGeom prst="roundRect">
            <a:avLst/>
          </a:prstGeom>
          <a:solidFill>
            <a:srgbClr val="E4F1FC"/>
          </a:solidFill>
          <a:ln w="15240">
            <a:solidFill>
              <a:srgbClr val="2A7B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967728" y="4448556"/>
            <a:ext cx="384048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A7B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smartphon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31736" y="4512564"/>
            <a:ext cx="256032" cy="256032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7424928" y="4114800"/>
            <a:ext cx="4114800" cy="1051560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300" b="1">
                <a:solidFill>
                  <a:srgbClr val="002E6E"/>
                </a:solidFill>
                <a:latin typeface="Calibri"/>
              </a:rPr>
              <a:t>03 1-Tap Merchant Confirmation</a:t>
            </a:r>
          </a:p>
          <a:p>
            <a:pPr>
              <a:lnSpc>
                <a:spcPct val="100000"/>
              </a:lnSpc>
            </a:pPr>
            <a:r>
              <a:rPr sz="1200">
                <a:solidFill>
                  <a:srgbClr val="1F2A44"/>
                </a:solidFill>
                <a:latin typeface="Calibri"/>
              </a:rPr>
              <a:t>Bayesian hypothesis chips appear on mobile; merchant confirms item name once to lock catalog with 100% confidence.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B5C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>
                <a:solidFill>
                  <a:srgbClr val="FFFFFF"/>
                </a:solidFill>
                <a:latin typeface="Calibri"/>
              </a:rPr>
              <a:t>Paytm AI Partner Hackathon 2026 | Munim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155680" y="6492240"/>
            <a:ext cx="73152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274320"/>
            <a:ext cx="1645920" cy="411480"/>
          </a:xfrm>
          <a:prstGeom prst="roundRect">
            <a:avLst/>
          </a:prstGeom>
          <a:solidFill>
            <a:srgbClr val="EEF2FF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>
                <a:solidFill>
                  <a:srgbClr val="002E6E"/>
                </a:solidFill>
                <a:latin typeface="Calibri"/>
              </a:rPr>
              <a:t>Team Munim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692640" y="274320"/>
            <a:ext cx="2133295" cy="411480"/>
          </a:xfrm>
          <a:prstGeom prst="roundRect">
            <a:avLst/>
          </a:prstGeom>
          <a:solidFill>
            <a:srgbClr val="FAFBFD"/>
          </a:solidFill>
          <a:ln w="12700">
            <a:solidFill>
              <a:srgbClr val="002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002E6E"/>
                </a:solidFill>
                <a:latin typeface="Calibri"/>
              </a:rPr>
              <a:t>Paytm AI Hackathon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03120" y="182880"/>
            <a:ext cx="7498079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600" b="1">
                <a:solidFill>
                  <a:srgbClr val="002E6E"/>
                </a:solidFill>
                <a:latin typeface="Georgia"/>
              </a:rPr>
              <a:t>BAHI-KHATA &amp; UDHAAR: Eliminating Invisible Cash Leakage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005840"/>
            <a:ext cx="6035040" cy="4114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2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bahi_kha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" y="1078992"/>
            <a:ext cx="5888736" cy="3968496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2103120" y="4992624"/>
            <a:ext cx="2560320" cy="256032"/>
          </a:xfrm>
          <a:prstGeom prst="roundRect">
            <a:avLst/>
          </a:prstGeom>
          <a:solidFill>
            <a:srgbClr val="002E6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Bahi-Khata Ledger view: Typed daily cash log &amp; overdue credit list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5257800"/>
            <a:ext cx="6035040" cy="1051560"/>
          </a:xfrm>
          <a:prstGeom prst="roundRect">
            <a:avLst/>
          </a:prstGeom>
          <a:solidFill>
            <a:srgbClr val="EDE9F8"/>
          </a:solidFill>
          <a:ln w="19050">
            <a:solidFill>
              <a:srgbClr val="6C5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5349240"/>
            <a:ext cx="56692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5B21B6"/>
                </a:solidFill>
                <a:latin typeface="Calibri"/>
              </a:rPr>
              <a:t>CUSTOMER CONSENT &amp; ETHICAL COLLECTION BOUNDARY</a:t>
            </a:r>
          </a:p>
          <a:p>
            <a:r>
              <a:rPr sz="1100">
                <a:solidFill>
                  <a:srgbClr val="1F2A44"/>
                </a:solidFill>
                <a:latin typeface="Calibri"/>
              </a:rPr>
              <a:t>Munim never broadcasts customer names over the counter Soundbox. Udhaar reminder links are generated as private mobile drafts and dispatched via WhatsApp only upon explicit merchant approval.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75120" y="1005840"/>
            <a:ext cx="5120640" cy="53035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12280" y="1115568"/>
            <a:ext cx="484632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500" b="1">
                <a:solidFill>
                  <a:srgbClr val="002E6E"/>
                </a:solidFill>
                <a:latin typeface="Calibri"/>
              </a:rPr>
              <a:t>DAILY RECONCILIATION WORKFLOW</a:t>
            </a:r>
          </a:p>
          <a:p>
            <a:r>
              <a:rPr sz="1100" i="1">
                <a:solidFill>
                  <a:srgbClr val="64748B"/>
                </a:solidFill>
                <a:latin typeface="Calibri"/>
              </a:rPr>
              <a:t>Reconciles unrecorded informal vendor payouts with digital collections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0" y="1737360"/>
            <a:ext cx="4754880" cy="1051560"/>
          </a:xfrm>
          <a:prstGeom prst="roundRect">
            <a:avLst/>
          </a:prstGeom>
          <a:solidFill>
            <a:srgbClr val="E6F6EE"/>
          </a:solidFill>
          <a:ln w="15240">
            <a:solidFill>
              <a:srgbClr val="2E9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967728" y="2071116"/>
            <a:ext cx="384048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E9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book-op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31736" y="2135124"/>
            <a:ext cx="256032" cy="256032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424928" y="1737360"/>
            <a:ext cx="4114800" cy="1051560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300" b="1">
                <a:solidFill>
                  <a:srgbClr val="002E6E"/>
                </a:solidFill>
                <a:latin typeface="Calibri"/>
              </a:rPr>
              <a:t>01 30-Second Evening Cash Log</a:t>
            </a:r>
          </a:p>
          <a:p>
            <a:pPr>
              <a:lnSpc>
                <a:spcPct val="100000"/>
              </a:lnSpc>
            </a:pPr>
            <a:r>
              <a:rPr sz="1200">
                <a:solidFill>
                  <a:srgbClr val="1F2A44"/>
                </a:solidFill>
                <a:latin typeface="Calibri"/>
              </a:rPr>
              <a:t>Merchant enters daily vendor cash expenses (milk, gas, vegetables) via typed Hindi text or voice input in 30 seconds.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0" y="2926080"/>
            <a:ext cx="4754880" cy="1051560"/>
          </a:xfrm>
          <a:prstGeom prst="roundRect">
            <a:avLst/>
          </a:prstGeom>
          <a:solidFill>
            <a:srgbClr val="E6F6EE"/>
          </a:solidFill>
          <a:ln w="15240">
            <a:solidFill>
              <a:srgbClr val="2E9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967728" y="3259836"/>
            <a:ext cx="384048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E9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bankno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31736" y="3323844"/>
            <a:ext cx="256032" cy="256032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7424928" y="2926080"/>
            <a:ext cx="4114800" cy="1051560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300" b="1">
                <a:solidFill>
                  <a:srgbClr val="002E6E"/>
                </a:solidFill>
                <a:latin typeface="Calibri"/>
              </a:rPr>
              <a:t>02 True Daily Net Profit</a:t>
            </a:r>
          </a:p>
          <a:p>
            <a:pPr>
              <a:lnSpc>
                <a:spcPct val="100000"/>
              </a:lnSpc>
            </a:pPr>
            <a:r>
              <a:rPr sz="1200">
                <a:solidFill>
                  <a:srgbClr val="1F2A44"/>
                </a:solidFill>
                <a:latin typeface="Calibri"/>
              </a:rPr>
              <a:t>Deterministic arithmetic calculates True Profit = UPI Digital Sales + Cash Inflow - Cash Outflow. Zero LLM math drift.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0" y="4114800"/>
            <a:ext cx="4754880" cy="1051560"/>
          </a:xfrm>
          <a:prstGeom prst="roundRect">
            <a:avLst/>
          </a:prstGeom>
          <a:solidFill>
            <a:srgbClr val="E6F6EE"/>
          </a:solidFill>
          <a:ln w="15240">
            <a:solidFill>
              <a:srgbClr val="2E9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967728" y="4448556"/>
            <a:ext cx="384048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E9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message-squar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31736" y="4512564"/>
            <a:ext cx="256032" cy="256032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7424928" y="4114800"/>
            <a:ext cx="4114800" cy="1051560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300" b="1">
                <a:solidFill>
                  <a:srgbClr val="002E6E"/>
                </a:solidFill>
                <a:latin typeface="Calibri"/>
              </a:rPr>
              <a:t>03 Tone-Controlled Debt Recovery</a:t>
            </a:r>
          </a:p>
          <a:p>
            <a:pPr>
              <a:lnSpc>
                <a:spcPct val="100000"/>
              </a:lnSpc>
            </a:pPr>
            <a:r>
              <a:rPr sz="1200">
                <a:solidFill>
                  <a:srgbClr val="1F2A44"/>
                </a:solidFill>
                <a:latin typeface="Calibri"/>
              </a:rPr>
              <a:t>Overdue credit is tracked by aging days; merchant chooses Polite, Formal, or Firm tone before tapping Approve to send.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B5C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>
                <a:solidFill>
                  <a:srgbClr val="FFFFFF"/>
                </a:solidFill>
                <a:latin typeface="Calibri"/>
              </a:rPr>
              <a:t>Paytm AI Partner Hackathon 2026 | Munim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55680" y="6492240"/>
            <a:ext cx="73152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274320"/>
            <a:ext cx="1645920" cy="411480"/>
          </a:xfrm>
          <a:prstGeom prst="roundRect">
            <a:avLst/>
          </a:prstGeom>
          <a:solidFill>
            <a:srgbClr val="EEF2FF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>
                <a:solidFill>
                  <a:srgbClr val="002E6E"/>
                </a:solidFill>
                <a:latin typeface="Calibri"/>
              </a:rPr>
              <a:t>Team Munim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692640" y="274320"/>
            <a:ext cx="2133295" cy="411480"/>
          </a:xfrm>
          <a:prstGeom prst="roundRect">
            <a:avLst/>
          </a:prstGeom>
          <a:solidFill>
            <a:srgbClr val="FAFBFD"/>
          </a:solidFill>
          <a:ln w="12700">
            <a:solidFill>
              <a:srgbClr val="002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002E6E"/>
                </a:solidFill>
                <a:latin typeface="Calibri"/>
              </a:rPr>
              <a:t>Paytm AI Hackathon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03120" y="182880"/>
            <a:ext cx="7498079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600" b="1">
                <a:solidFill>
                  <a:srgbClr val="002E6E"/>
                </a:solidFill>
                <a:latin typeface="Georgia"/>
              </a:rPr>
              <a:t>LIVE INTELLIGENCE: Proactive Surges &amp; Honest 'Don't Act' Restraint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005840"/>
            <a:ext cx="3749039" cy="5303520"/>
          </a:xfrm>
          <a:prstGeom prst="roundRect">
            <a:avLst/>
          </a:prstGeom>
          <a:solidFill>
            <a:srgbClr val="FDEEE0"/>
          </a:solidFill>
          <a:ln w="19050">
            <a:solidFill>
              <a:srgbClr val="E08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115568"/>
            <a:ext cx="3474719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500" b="1">
                <a:solidFill>
                  <a:srgbClr val="002E6E"/>
                </a:solidFill>
                <a:latin typeface="Calibri"/>
              </a:rPr>
              <a:t>OPPORTUNITY: FOOTFALL RUSH</a:t>
            </a:r>
          </a:p>
          <a:p>
            <a:r>
              <a:rPr sz="1100" i="1">
                <a:solidFill>
                  <a:srgbClr val="64748B"/>
                </a:solidFill>
                <a:latin typeface="Calibri"/>
              </a:rPr>
              <a:t>Proactive inventory preparation 30m ahead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91640"/>
            <a:ext cx="3474720" cy="960120"/>
          </a:xfrm>
          <a:prstGeom prst="roundRect">
            <a:avLst/>
          </a:prstGeom>
          <a:solidFill>
            <a:srgbClr val="FDEEE0"/>
          </a:solidFill>
          <a:ln w="15240">
            <a:solidFill>
              <a:srgbClr val="E08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12648" y="1979676"/>
            <a:ext cx="384048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8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activ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" y="2043684"/>
            <a:ext cx="256032" cy="25603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069848" y="1691640"/>
            <a:ext cx="2834640" cy="960120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300" b="1">
                <a:solidFill>
                  <a:srgbClr val="002E6E"/>
                </a:solidFill>
                <a:latin typeface="Calibri"/>
              </a:rPr>
              <a:t>Real-Time Telemetry Burst</a:t>
            </a:r>
          </a:p>
          <a:p>
            <a:pPr>
              <a:lnSpc>
                <a:spcPct val="100000"/>
              </a:lnSpc>
            </a:pPr>
            <a:r>
              <a:rPr sz="1200">
                <a:solidFill>
                  <a:srgbClr val="1F2A44"/>
                </a:solidFill>
                <a:latin typeface="Calibri"/>
              </a:rPr>
              <a:t>UPI transaction rate exceeds historical baseline threshold.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2788920"/>
            <a:ext cx="3474720" cy="960120"/>
          </a:xfrm>
          <a:prstGeom prst="roundRect">
            <a:avLst/>
          </a:prstGeom>
          <a:solidFill>
            <a:srgbClr val="FDEEE0"/>
          </a:solidFill>
          <a:ln w="15240">
            <a:solidFill>
              <a:srgbClr val="E08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12648" y="3076956"/>
            <a:ext cx="384048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8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trending-u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56" y="3140964"/>
            <a:ext cx="256032" cy="25603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069848" y="2788920"/>
            <a:ext cx="2834640" cy="960120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300" b="1">
                <a:solidFill>
                  <a:srgbClr val="002E6E"/>
                </a:solidFill>
                <a:latin typeface="Calibri"/>
              </a:rPr>
              <a:t>Statistical Surge Validation</a:t>
            </a:r>
          </a:p>
          <a:p>
            <a:pPr>
              <a:lnSpc>
                <a:spcPct val="100000"/>
              </a:lnSpc>
            </a:pPr>
            <a:r>
              <a:rPr sz="1200">
                <a:solidFill>
                  <a:srgbClr val="1F2A44"/>
                </a:solidFill>
                <a:latin typeface="Calibri"/>
              </a:rPr>
              <a:t>Footfall detector identifies +2.8σ volume acceleration.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3886200"/>
            <a:ext cx="3474720" cy="960120"/>
          </a:xfrm>
          <a:prstGeom prst="roundRect">
            <a:avLst/>
          </a:prstGeom>
          <a:solidFill>
            <a:srgbClr val="FDEEE0"/>
          </a:solidFill>
          <a:ln w="15240">
            <a:solidFill>
              <a:srgbClr val="E08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12648" y="4174236"/>
            <a:ext cx="384048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8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volume-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656" y="4238244"/>
            <a:ext cx="256032" cy="256032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069848" y="3886200"/>
            <a:ext cx="2834640" cy="960120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300" b="1">
                <a:solidFill>
                  <a:srgbClr val="002E6E"/>
                </a:solidFill>
                <a:latin typeface="Calibri"/>
              </a:rPr>
              <a:t>Countertop Voice Broadcast</a:t>
            </a:r>
          </a:p>
          <a:p>
            <a:pPr>
              <a:lnSpc>
                <a:spcPct val="100000"/>
              </a:lnSpc>
            </a:pPr>
            <a:r>
              <a:rPr sz="1200">
                <a:solidFill>
                  <a:srgbClr val="1F2A44"/>
                </a:solidFill>
                <a:latin typeface="Calibri"/>
              </a:rPr>
              <a:t>Announces: 'Chai aur bun maska tayyar rakhein, rush aane wala hai'.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4983480"/>
            <a:ext cx="3474720" cy="960120"/>
          </a:xfrm>
          <a:prstGeom prst="roundRect">
            <a:avLst/>
          </a:prstGeom>
          <a:solidFill>
            <a:srgbClr val="FDEEE0"/>
          </a:solidFill>
          <a:ln w="15240">
            <a:solidFill>
              <a:srgbClr val="E08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12648" y="5271516"/>
            <a:ext cx="384048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8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c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6656" y="5335524"/>
            <a:ext cx="256032" cy="256032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069848" y="4983480"/>
            <a:ext cx="2834640" cy="960120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300" b="1">
                <a:solidFill>
                  <a:srgbClr val="002E6E"/>
                </a:solidFill>
                <a:latin typeface="Calibri"/>
              </a:rPr>
              <a:t>Automatic Cooldown Window</a:t>
            </a:r>
          </a:p>
          <a:p>
            <a:pPr>
              <a:lnSpc>
                <a:spcPct val="100000"/>
              </a:lnSpc>
            </a:pPr>
            <a:r>
              <a:rPr sz="1200">
                <a:solidFill>
                  <a:srgbClr val="1F2A44"/>
                </a:solidFill>
                <a:latin typeface="Calibri"/>
              </a:rPr>
              <a:t>Suppresses duplicate alerts for 45 minutes to avoid merchant fatigue.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297680" y="1005840"/>
            <a:ext cx="3566160" cy="53035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2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soundbox_devic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70832" y="1078992"/>
            <a:ext cx="3419856" cy="5157216"/>
          </a:xfrm>
          <a:prstGeom prst="rect">
            <a:avLst/>
          </a:prstGeom>
        </p:spPr>
      </p:pic>
      <p:sp>
        <p:nvSpPr>
          <p:cNvPr id="25" name="Rounded Rectangle 24"/>
          <p:cNvSpPr/>
          <p:nvPr/>
        </p:nvSpPr>
        <p:spPr>
          <a:xfrm>
            <a:off x="4800600" y="6181344"/>
            <a:ext cx="2560320" cy="256032"/>
          </a:xfrm>
          <a:prstGeom prst="roundRect">
            <a:avLst/>
          </a:prstGeom>
          <a:solidFill>
            <a:srgbClr val="002E6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Working Soundbox simulator: Audio output only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46720" y="1005840"/>
            <a:ext cx="3749039" cy="5303520"/>
          </a:xfrm>
          <a:prstGeom prst="roundRect">
            <a:avLst/>
          </a:prstGeom>
          <a:solidFill>
            <a:srgbClr val="EDE9F8"/>
          </a:solidFill>
          <a:ln w="19050">
            <a:solidFill>
              <a:srgbClr val="6C5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183880" y="1115568"/>
            <a:ext cx="3474719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500" b="1">
                <a:solidFill>
                  <a:srgbClr val="002E6E"/>
                </a:solidFill>
                <a:latin typeface="Calibri"/>
              </a:rPr>
              <a:t>MARGIN SAFETY: 'DON'T ACT'</a:t>
            </a:r>
          </a:p>
          <a:p>
            <a:r>
              <a:rPr sz="1100" i="1">
                <a:solidFill>
                  <a:srgbClr val="64748B"/>
                </a:solidFill>
                <a:latin typeface="Calibri"/>
              </a:rPr>
              <a:t>Suppresses discounts during expected lulls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183879" y="1691640"/>
            <a:ext cx="3474720" cy="960120"/>
          </a:xfrm>
          <a:prstGeom prst="roundRect">
            <a:avLst/>
          </a:prstGeom>
          <a:solidFill>
            <a:srgbClr val="EDE9F8"/>
          </a:solidFill>
          <a:ln w="15240">
            <a:solidFill>
              <a:srgbClr val="6C5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8293607" y="1979676"/>
            <a:ext cx="384048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C5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triangle-alert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57615" y="2043684"/>
            <a:ext cx="256032" cy="256032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8750807" y="1691640"/>
            <a:ext cx="2834640" cy="960120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300" b="1">
                <a:solidFill>
                  <a:srgbClr val="002E6E"/>
                </a:solidFill>
                <a:latin typeface="Calibri"/>
              </a:rPr>
              <a:t>Dip Detection</a:t>
            </a:r>
          </a:p>
          <a:p>
            <a:pPr>
              <a:lnSpc>
                <a:spcPct val="100000"/>
              </a:lnSpc>
            </a:pPr>
            <a:r>
              <a:rPr sz="1200">
                <a:solidFill>
                  <a:srgbClr val="1F2A44"/>
                </a:solidFill>
                <a:latin typeface="Calibri"/>
              </a:rPr>
              <a:t>Payment volume drops 35% below peak morning rush hour.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183879" y="2788920"/>
            <a:ext cx="3474720" cy="960120"/>
          </a:xfrm>
          <a:prstGeom prst="roundRect">
            <a:avLst/>
          </a:prstGeom>
          <a:solidFill>
            <a:srgbClr val="EDE9F8"/>
          </a:solidFill>
          <a:ln w="15240">
            <a:solidFill>
              <a:srgbClr val="6C5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8293607" y="3076956"/>
            <a:ext cx="384048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C5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4" name="Picture 33" descr="brain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57615" y="3140964"/>
            <a:ext cx="256032" cy="256032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8750807" y="2788920"/>
            <a:ext cx="2834640" cy="960120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300" b="1">
                <a:solidFill>
                  <a:srgbClr val="002E6E"/>
                </a:solidFill>
                <a:latin typeface="Calibri"/>
              </a:rPr>
              <a:t>Context Explanation</a:t>
            </a:r>
          </a:p>
          <a:p>
            <a:pPr>
              <a:lnSpc>
                <a:spcPct val="100000"/>
              </a:lnSpc>
            </a:pPr>
            <a:r>
              <a:rPr sz="1200">
                <a:solidFill>
                  <a:srgbClr val="1F2A44"/>
                </a:solidFill>
                <a:latin typeface="Calibri"/>
              </a:rPr>
              <a:t>Correlates drop with historical Tuesday afternoon dead lull.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183879" y="3886200"/>
            <a:ext cx="3474720" cy="960120"/>
          </a:xfrm>
          <a:prstGeom prst="roundRect">
            <a:avLst/>
          </a:prstGeom>
          <a:solidFill>
            <a:srgbClr val="EDE9F8"/>
          </a:solidFill>
          <a:ln w="15240">
            <a:solidFill>
              <a:srgbClr val="6C5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8293607" y="4174236"/>
            <a:ext cx="384048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C5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shiel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57615" y="4238244"/>
            <a:ext cx="256032" cy="256032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8750807" y="3886200"/>
            <a:ext cx="2834640" cy="960120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300" b="1">
                <a:solidFill>
                  <a:srgbClr val="002E6E"/>
                </a:solidFill>
                <a:latin typeface="Calibri"/>
              </a:rPr>
              <a:t>Margin Protection Check</a:t>
            </a:r>
          </a:p>
          <a:p>
            <a:pPr>
              <a:lnSpc>
                <a:spcPct val="100000"/>
              </a:lnSpc>
            </a:pPr>
            <a:r>
              <a:rPr sz="1200">
                <a:solidFill>
                  <a:srgbClr val="1F2A44"/>
                </a:solidFill>
                <a:latin typeface="Calibri"/>
              </a:rPr>
              <a:t>Refuses to trigger discount coupon: discounting would destroy margin.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183879" y="4983480"/>
            <a:ext cx="3474720" cy="960120"/>
          </a:xfrm>
          <a:prstGeom prst="roundRect">
            <a:avLst/>
          </a:prstGeom>
          <a:solidFill>
            <a:srgbClr val="EDE9F8"/>
          </a:solidFill>
          <a:ln w="15240">
            <a:solidFill>
              <a:srgbClr val="6C5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8293607" y="5271516"/>
            <a:ext cx="384048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C5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2" name="Picture 41" descr="circle-check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357615" y="5335524"/>
            <a:ext cx="256032" cy="256032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8750807" y="4983480"/>
            <a:ext cx="2834640" cy="960120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300" b="1">
                <a:solidFill>
                  <a:srgbClr val="002E6E"/>
                </a:solidFill>
                <a:latin typeface="Calibri"/>
              </a:rPr>
              <a:t>Decision Engine Output</a:t>
            </a:r>
          </a:p>
          <a:p>
            <a:pPr>
              <a:lnSpc>
                <a:spcPct val="100000"/>
              </a:lnSpc>
            </a:pPr>
            <a:r>
              <a:rPr sz="1200">
                <a:solidFill>
                  <a:srgbClr val="1F2A44"/>
                </a:solidFill>
                <a:latin typeface="Calibri"/>
              </a:rPr>
              <a:t>Deliberately recommends: 'Don't Act — Normal lull, preserve pricing'.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B5C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>
                <a:solidFill>
                  <a:srgbClr val="FFFFFF"/>
                </a:solidFill>
                <a:latin typeface="Calibri"/>
              </a:rPr>
              <a:t>Paytm AI Partner Hackathon 2026 | Munim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155680" y="6492240"/>
            <a:ext cx="73152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274320"/>
            <a:ext cx="1645920" cy="411480"/>
          </a:xfrm>
          <a:prstGeom prst="roundRect">
            <a:avLst/>
          </a:prstGeom>
          <a:solidFill>
            <a:srgbClr val="EEF2FF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>
                <a:solidFill>
                  <a:srgbClr val="002E6E"/>
                </a:solidFill>
                <a:latin typeface="Calibri"/>
              </a:rPr>
              <a:t>Team Munim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692640" y="274320"/>
            <a:ext cx="2133295" cy="411480"/>
          </a:xfrm>
          <a:prstGeom prst="roundRect">
            <a:avLst/>
          </a:prstGeom>
          <a:solidFill>
            <a:srgbClr val="FAFBFD"/>
          </a:solidFill>
          <a:ln w="12700">
            <a:solidFill>
              <a:srgbClr val="002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002E6E"/>
                </a:solidFill>
                <a:latin typeface="Calibri"/>
              </a:rPr>
              <a:t>Paytm AI Hackathon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03120" y="182880"/>
            <a:ext cx="7498079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600" b="1">
                <a:solidFill>
                  <a:srgbClr val="002E6E"/>
                </a:solidFill>
                <a:latin typeface="Georgia"/>
              </a:rPr>
              <a:t>TRUST &amp; SAFETY: 3-Tier Risk Hierarchy &amp; Cryptographic Tokens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005840"/>
            <a:ext cx="4023360" cy="53035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115568"/>
            <a:ext cx="374904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500" b="1">
                <a:solidFill>
                  <a:srgbClr val="002E6E"/>
                </a:solidFill>
                <a:latin typeface="Calibri"/>
              </a:rPr>
              <a:t>3-TIER RISK STAIRCASE</a:t>
            </a:r>
          </a:p>
          <a:p>
            <a:r>
              <a:rPr sz="1100" i="1">
                <a:solidFill>
                  <a:srgbClr val="64748B"/>
                </a:solidFill>
                <a:latin typeface="Calibri"/>
              </a:rPr>
              <a:t>Autonomous analysis strictly separated from external action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45920"/>
            <a:ext cx="3657600" cy="1280160"/>
          </a:xfrm>
          <a:prstGeom prst="roundRect">
            <a:avLst/>
          </a:prstGeom>
          <a:solidFill>
            <a:srgbClr val="E6F6EE"/>
          </a:solidFill>
          <a:ln w="15240">
            <a:solidFill>
              <a:srgbClr val="2E9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58368" y="2093976"/>
            <a:ext cx="384048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E9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activ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376" y="2157984"/>
            <a:ext cx="256032" cy="25603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115568" y="1645920"/>
            <a:ext cx="3017520" cy="1280160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300" b="1">
                <a:solidFill>
                  <a:srgbClr val="002E6E"/>
                </a:solidFill>
                <a:latin typeface="Calibri"/>
              </a:rPr>
              <a:t>Tier 1: Read &amp; Analyze</a:t>
            </a:r>
          </a:p>
          <a:p>
            <a:pPr>
              <a:lnSpc>
                <a:spcPct val="100000"/>
              </a:lnSpc>
            </a:pPr>
            <a:r>
              <a:rPr sz="1200">
                <a:solidFill>
                  <a:srgbClr val="1F2A44"/>
                </a:solidFill>
                <a:latin typeface="Calibri"/>
              </a:rPr>
              <a:t>Autonomous. Ingests payment feed and calculates profit. Zero external impact.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3108960"/>
            <a:ext cx="3383280" cy="1280160"/>
          </a:xfrm>
          <a:prstGeom prst="roundRect">
            <a:avLst/>
          </a:prstGeom>
          <a:solidFill>
            <a:srgbClr val="E4F1FC"/>
          </a:solidFill>
          <a:ln w="15240">
            <a:solidFill>
              <a:srgbClr val="2A7B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32688" y="3557016"/>
            <a:ext cx="384048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A7B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file-tex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696" y="3621024"/>
            <a:ext cx="256032" cy="25603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389888" y="3108960"/>
            <a:ext cx="2743200" cy="1280160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300" b="1">
                <a:solidFill>
                  <a:srgbClr val="002E6E"/>
                </a:solidFill>
                <a:latin typeface="Calibri"/>
              </a:rPr>
              <a:t>Tier 2: Drafts &amp; Insights</a:t>
            </a:r>
          </a:p>
          <a:p>
            <a:pPr>
              <a:lnSpc>
                <a:spcPct val="100000"/>
              </a:lnSpc>
            </a:pPr>
            <a:r>
              <a:rPr sz="1200">
                <a:solidFill>
                  <a:srgbClr val="1F2A44"/>
                </a:solidFill>
                <a:latin typeface="Calibri"/>
              </a:rPr>
              <a:t>Autonomous preparation. Drafts reminder messages and morning brief internally.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97280" y="4572000"/>
            <a:ext cx="3108960" cy="1280160"/>
          </a:xfrm>
          <a:prstGeom prst="roundRect">
            <a:avLst/>
          </a:prstGeom>
          <a:solidFill>
            <a:srgbClr val="FEF2F2"/>
          </a:solidFill>
          <a:ln w="15240">
            <a:solidFill>
              <a:srgbClr val="D6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1207008" y="5020056"/>
            <a:ext cx="384048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71016" y="5084064"/>
            <a:ext cx="256032" cy="256032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664208" y="4572000"/>
            <a:ext cx="2468880" cy="1280160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300" b="1">
                <a:solidFill>
                  <a:srgbClr val="002E6E"/>
                </a:solidFill>
                <a:latin typeface="Calibri"/>
              </a:rPr>
              <a:t>Tier 3: External &amp; Money Actions</a:t>
            </a:r>
          </a:p>
          <a:p>
            <a:pPr>
              <a:lnSpc>
                <a:spcPct val="100000"/>
              </a:lnSpc>
            </a:pPr>
            <a:r>
              <a:rPr sz="1200">
                <a:solidFill>
                  <a:srgbClr val="1F2A44"/>
                </a:solidFill>
                <a:latin typeface="Calibri"/>
              </a:rPr>
              <a:t>Gated. Customer WhatsApp reminders require explicit mobile tap. Never auto-sent.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663440" y="1005840"/>
            <a:ext cx="3657600" cy="53035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800600" y="1115568"/>
            <a:ext cx="33832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500" b="1">
                <a:solidFill>
                  <a:srgbClr val="002E6E"/>
                </a:solidFill>
                <a:latin typeface="Calibri"/>
              </a:rPr>
              <a:t>RUNTIME GUARDRAIL GATEWAY</a:t>
            </a:r>
          </a:p>
          <a:p>
            <a:r>
              <a:rPr sz="1100" i="1">
                <a:solidFill>
                  <a:srgbClr val="64748B"/>
                </a:solidFill>
                <a:latin typeface="Calibri"/>
              </a:rPr>
              <a:t>Tested token architecture prevents unauthorized external adapter execution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846320" y="1645920"/>
            <a:ext cx="3291840" cy="594360"/>
          </a:xfrm>
          <a:prstGeom prst="roundRect">
            <a:avLst/>
          </a:prstGeom>
          <a:solidFill>
            <a:srgbClr val="E4F1FC"/>
          </a:solidFill>
          <a:ln w="15240">
            <a:solidFill>
              <a:srgbClr val="2A7B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901184" y="1796796"/>
            <a:ext cx="292608" cy="2926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A7B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bo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46904" y="1842516"/>
            <a:ext cx="201168" cy="201168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5266944" y="1645920"/>
            <a:ext cx="2798064" cy="594360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100" b="1">
                <a:solidFill>
                  <a:srgbClr val="002E6E"/>
                </a:solidFill>
                <a:latin typeface="Calibri"/>
              </a:rPr>
              <a:t>Agent Tool Call</a:t>
            </a:r>
          </a:p>
          <a:p>
            <a:pPr>
              <a:lnSpc>
                <a:spcPct val="100000"/>
              </a:lnSpc>
            </a:pPr>
            <a:r>
              <a:rPr sz="1000">
                <a:solidFill>
                  <a:srgbClr val="1F2A44"/>
                </a:solidFill>
                <a:latin typeface="Calibri"/>
              </a:rPr>
              <a:t>LLM attempts to trigger external action</a:t>
            </a:r>
          </a:p>
        </p:txBody>
      </p:sp>
      <p:sp>
        <p:nvSpPr>
          <p:cNvPr id="25" name="Down Arrow 24"/>
          <p:cNvSpPr/>
          <p:nvPr/>
        </p:nvSpPr>
        <p:spPr>
          <a:xfrm>
            <a:off x="6309360" y="2240280"/>
            <a:ext cx="182880" cy="109728"/>
          </a:xfrm>
          <a:prstGeom prst="downArrow">
            <a:avLst/>
          </a:prstGeom>
          <a:solidFill>
            <a:srgbClr val="00BA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4846320" y="2359152"/>
            <a:ext cx="3291840" cy="59436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4901184" y="2510028"/>
            <a:ext cx="292608" cy="2926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shiel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46904" y="2555748"/>
            <a:ext cx="201168" cy="201168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5266944" y="2359152"/>
            <a:ext cx="2798064" cy="594360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100" b="1">
                <a:solidFill>
                  <a:srgbClr val="002E6E"/>
                </a:solidFill>
                <a:latin typeface="Calibri"/>
              </a:rPr>
              <a:t>Runtime Guardrail</a:t>
            </a:r>
          </a:p>
          <a:p>
            <a:pPr>
              <a:lnSpc>
                <a:spcPct val="100000"/>
              </a:lnSpc>
            </a:pPr>
            <a:r>
              <a:rPr sz="1000">
                <a:solidFill>
                  <a:srgbClr val="1F2A44"/>
                </a:solidFill>
                <a:latin typeface="Calibri"/>
              </a:rPr>
              <a:t>Intercepts call and validates payload schema</a:t>
            </a:r>
          </a:p>
        </p:txBody>
      </p:sp>
      <p:sp>
        <p:nvSpPr>
          <p:cNvPr id="30" name="Down Arrow 29"/>
          <p:cNvSpPr/>
          <p:nvPr/>
        </p:nvSpPr>
        <p:spPr>
          <a:xfrm>
            <a:off x="6309360" y="2953512"/>
            <a:ext cx="182880" cy="109728"/>
          </a:xfrm>
          <a:prstGeom prst="downArrow">
            <a:avLst/>
          </a:prstGeom>
          <a:solidFill>
            <a:srgbClr val="00BA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4846320" y="3072384"/>
            <a:ext cx="3291840" cy="594360"/>
          </a:xfrm>
          <a:prstGeom prst="roundRect">
            <a:avLst/>
          </a:prstGeom>
          <a:solidFill>
            <a:srgbClr val="E4F1FC"/>
          </a:solidFill>
          <a:ln w="15240">
            <a:solidFill>
              <a:srgbClr val="2A7B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4901184" y="3223260"/>
            <a:ext cx="292608" cy="2926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A7B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smartphon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46904" y="3268980"/>
            <a:ext cx="201168" cy="20116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266944" y="3072384"/>
            <a:ext cx="2798064" cy="594360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100" b="1">
                <a:solidFill>
                  <a:srgbClr val="002E6E"/>
                </a:solidFill>
                <a:latin typeface="Calibri"/>
              </a:rPr>
              <a:t>Merchant Approval</a:t>
            </a:r>
          </a:p>
          <a:p>
            <a:pPr>
              <a:lnSpc>
                <a:spcPct val="100000"/>
              </a:lnSpc>
            </a:pPr>
            <a:r>
              <a:rPr sz="1000">
                <a:solidFill>
                  <a:srgbClr val="1F2A44"/>
                </a:solidFill>
                <a:latin typeface="Calibri"/>
              </a:rPr>
              <a:t>Prompts 1-tap confirmation card on phone</a:t>
            </a:r>
          </a:p>
        </p:txBody>
      </p:sp>
      <p:sp>
        <p:nvSpPr>
          <p:cNvPr id="35" name="Down Arrow 34"/>
          <p:cNvSpPr/>
          <p:nvPr/>
        </p:nvSpPr>
        <p:spPr>
          <a:xfrm>
            <a:off x="6309360" y="3666744"/>
            <a:ext cx="182880" cy="109728"/>
          </a:xfrm>
          <a:prstGeom prst="downArrow">
            <a:avLst/>
          </a:prstGeom>
          <a:solidFill>
            <a:srgbClr val="00BA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4846320" y="3785616"/>
            <a:ext cx="3291840" cy="59436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4901184" y="3936492"/>
            <a:ext cx="292608" cy="2926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46904" y="3982212"/>
            <a:ext cx="201168" cy="201168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5266944" y="3785616"/>
            <a:ext cx="2798064" cy="594360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100" b="1">
                <a:solidFill>
                  <a:srgbClr val="002E6E"/>
                </a:solidFill>
                <a:latin typeface="Calibri"/>
              </a:rPr>
              <a:t>Single-Use Token</a:t>
            </a:r>
          </a:p>
          <a:p>
            <a:pPr>
              <a:lnSpc>
                <a:spcPct val="100000"/>
              </a:lnSpc>
            </a:pPr>
            <a:r>
              <a:rPr sz="1000">
                <a:solidFill>
                  <a:srgbClr val="1F2A44"/>
                </a:solidFill>
                <a:latin typeface="Calibri"/>
              </a:rPr>
              <a:t>Generates single-use cryptographically secure token</a:t>
            </a:r>
          </a:p>
        </p:txBody>
      </p:sp>
      <p:sp>
        <p:nvSpPr>
          <p:cNvPr id="40" name="Down Arrow 39"/>
          <p:cNvSpPr/>
          <p:nvPr/>
        </p:nvSpPr>
        <p:spPr>
          <a:xfrm>
            <a:off x="6309360" y="4379976"/>
            <a:ext cx="182880" cy="109728"/>
          </a:xfrm>
          <a:prstGeom prst="downArrow">
            <a:avLst/>
          </a:prstGeom>
          <a:solidFill>
            <a:srgbClr val="00BA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4846320" y="4498848"/>
            <a:ext cx="3291840" cy="594360"/>
          </a:xfrm>
          <a:prstGeom prst="roundRect">
            <a:avLst/>
          </a:prstGeom>
          <a:solidFill>
            <a:srgbClr val="E4F1FC"/>
          </a:solidFill>
          <a:ln w="15240">
            <a:solidFill>
              <a:srgbClr val="2A7B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4901184" y="4649724"/>
            <a:ext cx="292608" cy="2926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A7B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3" name="Picture 42" descr="sen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46904" y="4695444"/>
            <a:ext cx="201168" cy="201168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5266944" y="4498848"/>
            <a:ext cx="2798064" cy="594360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100" b="1">
                <a:solidFill>
                  <a:srgbClr val="002E6E"/>
                </a:solidFill>
                <a:latin typeface="Calibri"/>
              </a:rPr>
              <a:t>Mock Adapter Execution</a:t>
            </a:r>
          </a:p>
          <a:p>
            <a:pPr>
              <a:lnSpc>
                <a:spcPct val="100000"/>
              </a:lnSpc>
            </a:pPr>
            <a:r>
              <a:rPr sz="1000">
                <a:solidFill>
                  <a:srgbClr val="1F2A44"/>
                </a:solidFill>
                <a:latin typeface="Calibri"/>
              </a:rPr>
              <a:t>Dispatches WhatsApp collect or UPI request</a:t>
            </a:r>
          </a:p>
        </p:txBody>
      </p:sp>
      <p:sp>
        <p:nvSpPr>
          <p:cNvPr id="45" name="Down Arrow 44"/>
          <p:cNvSpPr/>
          <p:nvPr/>
        </p:nvSpPr>
        <p:spPr>
          <a:xfrm>
            <a:off x="6309360" y="5093208"/>
            <a:ext cx="182880" cy="109728"/>
          </a:xfrm>
          <a:prstGeom prst="downArrow">
            <a:avLst/>
          </a:prstGeom>
          <a:solidFill>
            <a:srgbClr val="00BA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4846320" y="5212080"/>
            <a:ext cx="3291840" cy="59436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4901184" y="5362956"/>
            <a:ext cx="292608" cy="2926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8" name="Picture 47" descr="databas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946904" y="5408676"/>
            <a:ext cx="201168" cy="201168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5266944" y="5212080"/>
            <a:ext cx="2798064" cy="594360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100" b="1">
                <a:solidFill>
                  <a:srgbClr val="002E6E"/>
                </a:solidFill>
                <a:latin typeface="Calibri"/>
              </a:rPr>
              <a:t>Append-Only Audit Log</a:t>
            </a:r>
          </a:p>
          <a:p>
            <a:pPr>
              <a:lnSpc>
                <a:spcPct val="100000"/>
              </a:lnSpc>
            </a:pPr>
            <a:r>
              <a:rPr sz="1000">
                <a:solidFill>
                  <a:srgbClr val="1F2A44"/>
                </a:solidFill>
                <a:latin typeface="Calibri"/>
              </a:rPr>
              <a:t>Records UTC timestamp, action, and merchant decision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595360" y="1005840"/>
            <a:ext cx="3200400" cy="53035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732520" y="1115568"/>
            <a:ext cx="29260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500" b="1">
                <a:solidFill>
                  <a:srgbClr val="002E6E"/>
                </a:solidFill>
                <a:latin typeface="Calibri"/>
              </a:rPr>
              <a:t>ARCHITECTURAL GUARANTEES</a:t>
            </a:r>
          </a:p>
          <a:p>
            <a:r>
              <a:rPr sz="1100" i="1">
                <a:solidFill>
                  <a:srgbClr val="64748B"/>
                </a:solidFill>
                <a:latin typeface="Calibri"/>
              </a:rPr>
              <a:t>Proven through automated unit tests and eval harness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8778240" y="1737360"/>
            <a:ext cx="2834640" cy="1280160"/>
          </a:xfrm>
          <a:prstGeom prst="roundRect">
            <a:avLst/>
          </a:prstGeom>
          <a:solidFill>
            <a:srgbClr val="EDE9F8"/>
          </a:solidFill>
          <a:ln w="15240">
            <a:solidFill>
              <a:srgbClr val="6C5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8887968" y="2185416"/>
            <a:ext cx="384048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C5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4" name="Picture 53" descr="cpu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951976" y="2249424"/>
            <a:ext cx="256032" cy="256032"/>
          </a:xfrm>
          <a:prstGeom prst="rect">
            <a:avLst/>
          </a:prstGeom>
        </p:spPr>
      </p:pic>
      <p:sp>
        <p:nvSpPr>
          <p:cNvPr id="55" name="TextBox 54"/>
          <p:cNvSpPr txBox="1"/>
          <p:nvPr/>
        </p:nvSpPr>
        <p:spPr>
          <a:xfrm>
            <a:off x="9345168" y="1737360"/>
            <a:ext cx="2194560" cy="1280160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300" b="1">
                <a:solidFill>
                  <a:srgbClr val="002E6E"/>
                </a:solidFill>
                <a:latin typeface="Calibri"/>
              </a:rPr>
              <a:t>Zero Math in LLM</a:t>
            </a:r>
          </a:p>
          <a:p>
            <a:pPr>
              <a:lnSpc>
                <a:spcPct val="100000"/>
              </a:lnSpc>
            </a:pPr>
            <a:r>
              <a:rPr sz="1200">
                <a:solidFill>
                  <a:srgbClr val="1F2A44"/>
                </a:solidFill>
                <a:latin typeface="Calibri"/>
              </a:rPr>
              <a:t>100% of profit, margin, and credit calculations are isolated in deterministic Python arithmetic.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8778240" y="3200400"/>
            <a:ext cx="2834640" cy="1280160"/>
          </a:xfrm>
          <a:prstGeom prst="roundRect">
            <a:avLst/>
          </a:prstGeom>
          <a:solidFill>
            <a:srgbClr val="EDE9F8"/>
          </a:solidFill>
          <a:ln w="15240">
            <a:solidFill>
              <a:srgbClr val="6C5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ounded Rectangle 56"/>
          <p:cNvSpPr/>
          <p:nvPr/>
        </p:nvSpPr>
        <p:spPr>
          <a:xfrm>
            <a:off x="8887968" y="3648456"/>
            <a:ext cx="384048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C5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8" name="Picture 57" descr="shield-check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951976" y="3712464"/>
            <a:ext cx="256032" cy="256032"/>
          </a:xfrm>
          <a:prstGeom prst="rect">
            <a:avLst/>
          </a:prstGeom>
        </p:spPr>
      </p:pic>
      <p:sp>
        <p:nvSpPr>
          <p:cNvPr id="59" name="TextBox 58"/>
          <p:cNvSpPr txBox="1"/>
          <p:nvPr/>
        </p:nvSpPr>
        <p:spPr>
          <a:xfrm>
            <a:off x="9345168" y="3200400"/>
            <a:ext cx="2194560" cy="1280160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300" b="1">
                <a:solidFill>
                  <a:srgbClr val="002E6E"/>
                </a:solidFill>
                <a:latin typeface="Calibri"/>
              </a:rPr>
              <a:t>Token-Enforced Adapters</a:t>
            </a:r>
          </a:p>
          <a:p>
            <a:pPr>
              <a:lnSpc>
                <a:spcPct val="100000"/>
              </a:lnSpc>
            </a:pPr>
            <a:r>
              <a:rPr sz="1200">
                <a:solidFill>
                  <a:srgbClr val="1F2A44"/>
                </a:solidFill>
                <a:latin typeface="Calibri"/>
              </a:rPr>
              <a:t>Direct adapter calls without a valid single-use token raise PermissionError (verified in unit tests).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8778240" y="4663440"/>
            <a:ext cx="2834640" cy="1280160"/>
          </a:xfrm>
          <a:prstGeom prst="roundRect">
            <a:avLst/>
          </a:prstGeom>
          <a:solidFill>
            <a:srgbClr val="EDE9F8"/>
          </a:solidFill>
          <a:ln w="15240">
            <a:solidFill>
              <a:srgbClr val="6C5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ounded Rectangle 60"/>
          <p:cNvSpPr/>
          <p:nvPr/>
        </p:nvSpPr>
        <p:spPr>
          <a:xfrm>
            <a:off x="8887968" y="5111496"/>
            <a:ext cx="384048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C5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2" name="Picture 61" descr="databas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951976" y="5175504"/>
            <a:ext cx="256032" cy="256032"/>
          </a:xfrm>
          <a:prstGeom prst="rect">
            <a:avLst/>
          </a:prstGeom>
        </p:spPr>
      </p:pic>
      <p:sp>
        <p:nvSpPr>
          <p:cNvPr id="63" name="TextBox 62"/>
          <p:cNvSpPr txBox="1"/>
          <p:nvPr/>
        </p:nvSpPr>
        <p:spPr>
          <a:xfrm>
            <a:off x="9345168" y="4663440"/>
            <a:ext cx="2194560" cy="1280160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300" b="1">
                <a:solidFill>
                  <a:srgbClr val="002E6E"/>
                </a:solidFill>
                <a:latin typeface="Calibri"/>
              </a:rPr>
              <a:t>Isolated Ground Truth</a:t>
            </a:r>
          </a:p>
          <a:p>
            <a:pPr>
              <a:lnSpc>
                <a:spcPct val="100000"/>
              </a:lnSpc>
            </a:pPr>
            <a:r>
              <a:rPr sz="1200">
                <a:solidFill>
                  <a:srgbClr val="1F2A44"/>
                </a:solidFill>
                <a:latin typeface="Calibri"/>
              </a:rPr>
              <a:t>Item discovery runs strictly unsupervised; seed labels are isolated from the inference engine.</a:t>
            </a:r>
          </a:p>
        </p:txBody>
      </p:sp>
      <p:sp>
        <p:nvSpPr>
          <p:cNvPr id="64" name="Rectangle 6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B5C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>
                <a:solidFill>
                  <a:srgbClr val="FFFFFF"/>
                </a:solidFill>
                <a:latin typeface="Calibri"/>
              </a:rPr>
              <a:t>Paytm AI Partner Hackathon 2026 | Munim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1155680" y="6492240"/>
            <a:ext cx="73152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274320"/>
            <a:ext cx="1645920" cy="411480"/>
          </a:xfrm>
          <a:prstGeom prst="roundRect">
            <a:avLst/>
          </a:prstGeom>
          <a:solidFill>
            <a:srgbClr val="EEF2FF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>
                <a:solidFill>
                  <a:srgbClr val="002E6E"/>
                </a:solidFill>
                <a:latin typeface="Calibri"/>
              </a:rPr>
              <a:t>Team Munim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692640" y="274320"/>
            <a:ext cx="2133295" cy="411480"/>
          </a:xfrm>
          <a:prstGeom prst="roundRect">
            <a:avLst/>
          </a:prstGeom>
          <a:solidFill>
            <a:srgbClr val="FAFBFD"/>
          </a:solidFill>
          <a:ln w="12700">
            <a:solidFill>
              <a:srgbClr val="002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002E6E"/>
                </a:solidFill>
                <a:latin typeface="Calibri"/>
              </a:rPr>
              <a:t>Paytm AI Hackathon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03120" y="182880"/>
            <a:ext cx="7498079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600" b="1">
                <a:solidFill>
                  <a:srgbClr val="002E6E"/>
                </a:solidFill>
                <a:latin typeface="Georgia"/>
              </a:rPr>
              <a:t>MUNIM SCORE: Behavioral Cashflow Signal for Paytm Underwriting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005840"/>
            <a:ext cx="5669280" cy="53035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115568"/>
            <a:ext cx="539496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500" b="1">
                <a:solidFill>
                  <a:srgbClr val="002E6E"/>
                </a:solidFill>
                <a:latin typeface="Calibri"/>
              </a:rPr>
              <a:t>5-FACTOR BEHAVIORAL SCORING MODEL</a:t>
            </a:r>
          </a:p>
          <a:p>
            <a:r>
              <a:rPr sz="1100" i="1">
                <a:solidFill>
                  <a:srgbClr val="64748B"/>
                </a:solidFill>
                <a:latin typeface="Calibri"/>
              </a:rPr>
              <a:t>Derived purely from daily operating discipline without tax returns or collateral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45920"/>
            <a:ext cx="5303520" cy="713232"/>
          </a:xfrm>
          <a:prstGeom prst="roundRect">
            <a:avLst/>
          </a:prstGeom>
          <a:solidFill>
            <a:srgbClr val="EDE9F8"/>
          </a:solidFill>
          <a:ln w="15240">
            <a:solidFill>
              <a:srgbClr val="6C5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58368" y="1810512"/>
            <a:ext cx="384048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C5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activ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376" y="1874520"/>
            <a:ext cx="256032" cy="25603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115568" y="1645920"/>
            <a:ext cx="4663440" cy="713232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300" b="1">
                <a:solidFill>
                  <a:srgbClr val="002E6E"/>
                </a:solidFill>
                <a:latin typeface="Calibri"/>
              </a:rPr>
              <a:t>Volume Consistency (25%)</a:t>
            </a:r>
          </a:p>
          <a:p>
            <a:pPr>
              <a:lnSpc>
                <a:spcPct val="100000"/>
              </a:lnSpc>
            </a:pPr>
            <a:r>
              <a:rPr sz="1200">
                <a:solidFill>
                  <a:srgbClr val="1F2A44"/>
                </a:solidFill>
                <a:latin typeface="Calibri"/>
              </a:rPr>
              <a:t>Measures regular daily customer transactions and business stability.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423160"/>
            <a:ext cx="5303520" cy="713232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58368" y="2587752"/>
            <a:ext cx="384048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book-op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376" y="2651760"/>
            <a:ext cx="256032" cy="25603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115568" y="2423160"/>
            <a:ext cx="4663440" cy="713232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300" b="1">
                <a:solidFill>
                  <a:srgbClr val="002E6E"/>
                </a:solidFill>
                <a:latin typeface="Calibri"/>
              </a:rPr>
              <a:t>Expense Discipline (25%)</a:t>
            </a:r>
          </a:p>
          <a:p>
            <a:pPr>
              <a:lnSpc>
                <a:spcPct val="100000"/>
              </a:lnSpc>
            </a:pPr>
            <a:r>
              <a:rPr sz="1200">
                <a:solidFill>
                  <a:srgbClr val="1F2A44"/>
                </a:solidFill>
                <a:latin typeface="Calibri"/>
              </a:rPr>
              <a:t>Regularity of recording evening vendor cash logs in Bahi-Khata.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200400"/>
            <a:ext cx="5303520" cy="713232"/>
          </a:xfrm>
          <a:prstGeom prst="roundRect">
            <a:avLst/>
          </a:prstGeom>
          <a:solidFill>
            <a:srgbClr val="EDE9F8"/>
          </a:solidFill>
          <a:ln w="15240">
            <a:solidFill>
              <a:srgbClr val="6C5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58368" y="3364992"/>
            <a:ext cx="384048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C5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trending-u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2376" y="3429000"/>
            <a:ext cx="256032" cy="256032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115568" y="3200400"/>
            <a:ext cx="4663440" cy="713232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300" b="1">
                <a:solidFill>
                  <a:srgbClr val="002E6E"/>
                </a:solidFill>
                <a:latin typeface="Calibri"/>
              </a:rPr>
              <a:t>Revenue Stability (20%)</a:t>
            </a:r>
          </a:p>
          <a:p>
            <a:pPr>
              <a:lnSpc>
                <a:spcPct val="100000"/>
              </a:lnSpc>
            </a:pPr>
            <a:r>
              <a:rPr sz="1200">
                <a:solidFill>
                  <a:srgbClr val="1F2A44"/>
                </a:solidFill>
                <a:latin typeface="Calibri"/>
              </a:rPr>
              <a:t>Week-over-week digital sales trajectory and footfall reliability.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3977640"/>
            <a:ext cx="5303520" cy="713232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58368" y="4142232"/>
            <a:ext cx="384048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bankno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2376" y="4206240"/>
            <a:ext cx="256032" cy="256032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115568" y="3977640"/>
            <a:ext cx="4663440" cy="713232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300" b="1">
                <a:solidFill>
                  <a:srgbClr val="002E6E"/>
                </a:solidFill>
                <a:latin typeface="Calibri"/>
              </a:rPr>
              <a:t>Udhaar Recovery Rate (15%)</a:t>
            </a:r>
          </a:p>
          <a:p>
            <a:pPr>
              <a:lnSpc>
                <a:spcPct val="100000"/>
              </a:lnSpc>
            </a:pPr>
            <a:r>
              <a:rPr sz="1200">
                <a:solidFill>
                  <a:srgbClr val="1F2A44"/>
                </a:solidFill>
                <a:latin typeface="Calibri"/>
              </a:rPr>
              <a:t>Success rate and speed of recovering outstanding customer credit.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4754880"/>
            <a:ext cx="5303520" cy="713232"/>
          </a:xfrm>
          <a:prstGeom prst="roundRect">
            <a:avLst/>
          </a:prstGeom>
          <a:solidFill>
            <a:srgbClr val="EDE9F8"/>
          </a:solidFill>
          <a:ln w="15240">
            <a:solidFill>
              <a:srgbClr val="6C5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58368" y="4919472"/>
            <a:ext cx="384048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C5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chart-pi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2376" y="4983480"/>
            <a:ext cx="256032" cy="256032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1115568" y="4754880"/>
            <a:ext cx="4663440" cy="713232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300" b="1">
                <a:solidFill>
                  <a:srgbClr val="002E6E"/>
                </a:solidFill>
                <a:latin typeface="Calibri"/>
              </a:rPr>
              <a:t>Operating Margin Health (15%)</a:t>
            </a:r>
          </a:p>
          <a:p>
            <a:pPr>
              <a:lnSpc>
                <a:spcPct val="100000"/>
              </a:lnSpc>
            </a:pPr>
            <a:r>
              <a:rPr sz="1200">
                <a:solidFill>
                  <a:srgbClr val="1F2A44"/>
                </a:solidFill>
                <a:latin typeface="Calibri"/>
              </a:rPr>
              <a:t>Sustained net profit margin after deducting all operating costs.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309360" y="1005840"/>
            <a:ext cx="5486400" cy="39319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2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munim_scor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82512" y="1078992"/>
            <a:ext cx="5340096" cy="3785616"/>
          </a:xfrm>
          <a:prstGeom prst="rect">
            <a:avLst/>
          </a:prstGeom>
        </p:spPr>
      </p:pic>
      <p:sp>
        <p:nvSpPr>
          <p:cNvPr id="29" name="Rounded Rectangle 28"/>
          <p:cNvSpPr/>
          <p:nvPr/>
        </p:nvSpPr>
        <p:spPr>
          <a:xfrm>
            <a:off x="7772400" y="4809744"/>
            <a:ext cx="2560320" cy="256032"/>
          </a:xfrm>
          <a:prstGeom prst="roundRect">
            <a:avLst/>
          </a:prstGeom>
          <a:solidFill>
            <a:srgbClr val="002E6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Munim Score dashboard: Score tier breakdown and actionable raising tips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309360" y="5074920"/>
            <a:ext cx="5486400" cy="1234440"/>
          </a:xfrm>
          <a:prstGeom prst="roundRect">
            <a:avLst/>
          </a:prstGeom>
          <a:solidFill>
            <a:srgbClr val="FEF2F2"/>
          </a:solidFill>
          <a:ln w="19050">
            <a:solidFill>
              <a:srgbClr val="D6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92240" y="5138928"/>
            <a:ext cx="5120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991B1B"/>
                </a:solidFill>
                <a:latin typeface="Calibri"/>
              </a:rPr>
              <a:t>REGULATORY &amp; CREDIT COMPLIANCE BOUNDARY (MANDATORY)</a:t>
            </a:r>
          </a:p>
          <a:p>
            <a:r>
              <a:rPr sz="1100">
                <a:solidFill>
                  <a:srgbClr val="1F2A44"/>
                </a:solidFill>
                <a:latin typeface="Calibri"/>
              </a:rPr>
              <a:t>Illustrative behavioral signal for Paytm's existing licensed underwriting. Not a credit decision. Munim does not disburse loans, set interest rates, or make licensed credit judgments. It enriches underwriting telemetry for regulated financial institutions.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B5C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>
                <a:solidFill>
                  <a:srgbClr val="FFFFFF"/>
                </a:solidFill>
                <a:latin typeface="Calibri"/>
              </a:rPr>
              <a:t>Paytm AI Partner Hackathon 2026 | Munim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155680" y="6492240"/>
            <a:ext cx="73152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274320"/>
            <a:ext cx="1645920" cy="411480"/>
          </a:xfrm>
          <a:prstGeom prst="roundRect">
            <a:avLst/>
          </a:prstGeom>
          <a:solidFill>
            <a:srgbClr val="EEF2FF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>
                <a:solidFill>
                  <a:srgbClr val="002E6E"/>
                </a:solidFill>
                <a:latin typeface="Calibri"/>
              </a:rPr>
              <a:t>Team Munim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692640" y="274320"/>
            <a:ext cx="2133295" cy="411480"/>
          </a:xfrm>
          <a:prstGeom prst="roundRect">
            <a:avLst/>
          </a:prstGeom>
          <a:solidFill>
            <a:srgbClr val="FAFBFD"/>
          </a:solidFill>
          <a:ln w="12700">
            <a:solidFill>
              <a:srgbClr val="002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002E6E"/>
                </a:solidFill>
                <a:latin typeface="Calibri"/>
              </a:rPr>
              <a:t>Paytm AI Hackathon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03120" y="182880"/>
            <a:ext cx="7498079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600" b="1">
                <a:solidFill>
                  <a:srgbClr val="002E6E"/>
                </a:solidFill>
                <a:latin typeface="Georgia"/>
              </a:rPr>
              <a:t>DEMONSTRATION SCENARIO: A Day in the Life of Ramesh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005840"/>
            <a:ext cx="2194560" cy="53035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38912" y="1078992"/>
            <a:ext cx="548640" cy="237744"/>
          </a:xfrm>
          <a:prstGeom prst="roundRect">
            <a:avLst/>
          </a:prstGeom>
          <a:solidFill>
            <a:srgbClr val="002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ACT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" y="1060704"/>
            <a:ext cx="594360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000" b="1">
                <a:solidFill>
                  <a:srgbClr val="64748B"/>
                </a:solidFill>
                <a:latin typeface="Calibri"/>
              </a:rPr>
              <a:t>08:00 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" y="1353312"/>
            <a:ext cx="204825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002E6E"/>
                </a:solidFill>
                <a:latin typeface="Calibri"/>
              </a:rPr>
              <a:t>Morning Briefing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691640"/>
            <a:ext cx="2011680" cy="24688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2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soundbox_devi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" y="1764792"/>
            <a:ext cx="1865376" cy="232257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4251960"/>
            <a:ext cx="2011680" cy="20574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lnSpc>
                <a:spcPct val="105000"/>
              </a:lnSpc>
            </a:pPr>
            <a:r>
              <a:rPr sz="1100">
                <a:solidFill>
                  <a:srgbClr val="1F2A44"/>
                </a:solidFill>
                <a:latin typeface="Calibri"/>
              </a:rPr>
              <a:t>• Soundbox plays Hinglish neural audio.</a:t>
            </a:r>
          </a:p>
          <a:p>
            <a:pPr>
              <a:lnSpc>
                <a:spcPct val="105000"/>
              </a:lnSpc>
            </a:pPr>
            <a:r>
              <a:rPr sz="1100">
                <a:solidFill>
                  <a:srgbClr val="1F2A44"/>
                </a:solidFill>
                <a:latin typeface="Calibri"/>
              </a:rPr>
              <a:t>• Announces yesterday's net cash profit.</a:t>
            </a:r>
          </a:p>
          <a:p>
            <a:pPr>
              <a:lnSpc>
                <a:spcPct val="105000"/>
              </a:lnSpc>
            </a:pPr>
            <a:r>
              <a:rPr sz="1100">
                <a:solidFill>
                  <a:srgbClr val="1F2A44"/>
                </a:solidFill>
                <a:latin typeface="Calibri"/>
              </a:rPr>
              <a:t>• Reminds milk replenishment target.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670048" y="1005840"/>
            <a:ext cx="2194560" cy="53035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743200" y="1078992"/>
            <a:ext cx="548640" cy="237744"/>
          </a:xfrm>
          <a:prstGeom prst="roundRect">
            <a:avLst/>
          </a:prstGeom>
          <a:solidFill>
            <a:srgbClr val="002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ACT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28416" y="1060704"/>
            <a:ext cx="594360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000" b="1">
                <a:solidFill>
                  <a:srgbClr val="64748B"/>
                </a:solidFill>
                <a:latin typeface="Calibri"/>
              </a:rPr>
              <a:t>12:30 PM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0" y="1353312"/>
            <a:ext cx="204825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002E6E"/>
                </a:solidFill>
                <a:latin typeface="Calibri"/>
              </a:rPr>
              <a:t>Surge Warning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761488" y="1691640"/>
            <a:ext cx="2011680" cy="24688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2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what_i_sel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34640" y="1764792"/>
            <a:ext cx="1865376" cy="2322576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2761488" y="4251960"/>
            <a:ext cx="2011680" cy="20574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lnSpc>
                <a:spcPct val="105000"/>
              </a:lnSpc>
            </a:pPr>
            <a:r>
              <a:rPr sz="1100">
                <a:solidFill>
                  <a:srgbClr val="1F2A44"/>
                </a:solidFill>
                <a:latin typeface="Calibri"/>
              </a:rPr>
              <a:t>• Detects +2.8σ footfall rush surge.</a:t>
            </a:r>
          </a:p>
          <a:p>
            <a:pPr>
              <a:lnSpc>
                <a:spcPct val="105000"/>
              </a:lnSpc>
            </a:pPr>
            <a:r>
              <a:rPr sz="1100">
                <a:solidFill>
                  <a:srgbClr val="1F2A44"/>
                </a:solidFill>
                <a:latin typeface="Calibri"/>
              </a:rPr>
              <a:t>• Alerts counter: 'Bun maska tayyar'.</a:t>
            </a:r>
          </a:p>
          <a:p>
            <a:pPr>
              <a:lnSpc>
                <a:spcPct val="105000"/>
              </a:lnSpc>
            </a:pPr>
            <a:r>
              <a:rPr sz="1100">
                <a:solidFill>
                  <a:srgbClr val="1F2A44"/>
                </a:solidFill>
                <a:latin typeface="Calibri"/>
              </a:rPr>
              <a:t>• Suppresses discounts to save margin.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974336" y="1005840"/>
            <a:ext cx="2194560" cy="53035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047488" y="1078992"/>
            <a:ext cx="548640" cy="237744"/>
          </a:xfrm>
          <a:prstGeom prst="roundRect">
            <a:avLst/>
          </a:prstGeom>
          <a:solidFill>
            <a:srgbClr val="002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ACT 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32704" y="1060704"/>
            <a:ext cx="594360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000" b="1">
                <a:solidFill>
                  <a:srgbClr val="64748B"/>
                </a:solidFill>
                <a:latin typeface="Calibri"/>
              </a:rPr>
              <a:t>04:30 PM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47488" y="1353312"/>
            <a:ext cx="204825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002E6E"/>
                </a:solidFill>
                <a:latin typeface="Calibri"/>
              </a:rPr>
              <a:t>Bahi-Khata Ritual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65776" y="1691640"/>
            <a:ext cx="2011680" cy="24688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2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bahi_khat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38928" y="1764792"/>
            <a:ext cx="1865376" cy="2322576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5065776" y="4251960"/>
            <a:ext cx="2011680" cy="20574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lnSpc>
                <a:spcPct val="105000"/>
              </a:lnSpc>
            </a:pPr>
            <a:r>
              <a:rPr sz="1100">
                <a:solidFill>
                  <a:srgbClr val="1F2A44"/>
                </a:solidFill>
                <a:latin typeface="Calibri"/>
              </a:rPr>
              <a:t>• Ramesh types: 'Doodh 500, cheeni 200'.</a:t>
            </a:r>
          </a:p>
          <a:p>
            <a:pPr>
              <a:lnSpc>
                <a:spcPct val="105000"/>
              </a:lnSpc>
            </a:pPr>
            <a:r>
              <a:rPr sz="1100">
                <a:solidFill>
                  <a:srgbClr val="1F2A44"/>
                </a:solidFill>
                <a:latin typeface="Calibri"/>
              </a:rPr>
              <a:t>• Parser extracts entries with 90% accuracy.</a:t>
            </a:r>
          </a:p>
          <a:p>
            <a:pPr>
              <a:lnSpc>
                <a:spcPct val="105000"/>
              </a:lnSpc>
            </a:pPr>
            <a:r>
              <a:rPr sz="1100">
                <a:solidFill>
                  <a:srgbClr val="1F2A44"/>
                </a:solidFill>
                <a:latin typeface="Calibri"/>
              </a:rPr>
              <a:t>• Recalculates True Daily Net Profit.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278624" y="1005840"/>
            <a:ext cx="2194560" cy="53035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7351776" y="1078992"/>
            <a:ext cx="548640" cy="237744"/>
          </a:xfrm>
          <a:prstGeom prst="roundRect">
            <a:avLst/>
          </a:prstGeom>
          <a:solidFill>
            <a:srgbClr val="002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ACT 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936992" y="1060704"/>
            <a:ext cx="594360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000" b="1">
                <a:solidFill>
                  <a:srgbClr val="64748B"/>
                </a:solidFill>
                <a:latin typeface="Calibri"/>
              </a:rPr>
              <a:t>06:00 PM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51776" y="1353312"/>
            <a:ext cx="204825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002E6E"/>
                </a:solidFill>
                <a:latin typeface="Calibri"/>
              </a:rPr>
              <a:t>Udhaar Recovery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370064" y="1691640"/>
            <a:ext cx="2011680" cy="24688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2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hom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43216" y="1764792"/>
            <a:ext cx="1865376" cy="2322576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7370064" y="4251960"/>
            <a:ext cx="2011680" cy="20574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lnSpc>
                <a:spcPct val="105000"/>
              </a:lnSpc>
            </a:pPr>
            <a:r>
              <a:rPr sz="1100">
                <a:solidFill>
                  <a:srgbClr val="1F2A44"/>
                </a:solidFill>
                <a:latin typeface="Calibri"/>
              </a:rPr>
              <a:t>• Flags overdue debtor aging on mobile.</a:t>
            </a:r>
          </a:p>
          <a:p>
            <a:pPr>
              <a:lnSpc>
                <a:spcPct val="105000"/>
              </a:lnSpc>
            </a:pPr>
            <a:r>
              <a:rPr sz="1100">
                <a:solidFill>
                  <a:srgbClr val="1F2A44"/>
                </a:solidFill>
                <a:latin typeface="Calibri"/>
              </a:rPr>
              <a:t>• Merchant picks Polite tone &amp; taps Approve.</a:t>
            </a:r>
          </a:p>
          <a:p>
            <a:pPr>
              <a:lnSpc>
                <a:spcPct val="105000"/>
              </a:lnSpc>
            </a:pPr>
            <a:r>
              <a:rPr sz="1100">
                <a:solidFill>
                  <a:srgbClr val="1F2A44"/>
                </a:solidFill>
                <a:latin typeface="Calibri"/>
              </a:rPr>
              <a:t>• Mock WhatsApp collection link sent.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582912" y="1005840"/>
            <a:ext cx="2194560" cy="53035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9656064" y="1078992"/>
            <a:ext cx="548640" cy="237744"/>
          </a:xfrm>
          <a:prstGeom prst="roundRect">
            <a:avLst/>
          </a:prstGeom>
          <a:solidFill>
            <a:srgbClr val="002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ACT 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241280" y="1060704"/>
            <a:ext cx="594360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000" b="1">
                <a:solidFill>
                  <a:srgbClr val="64748B"/>
                </a:solidFill>
                <a:latin typeface="Calibri"/>
              </a:rPr>
              <a:t>09:00 PM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656064" y="1353312"/>
            <a:ext cx="204825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002E6E"/>
                </a:solidFill>
                <a:latin typeface="Calibri"/>
              </a:rPr>
              <a:t>Measure Uplift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674352" y="1691640"/>
            <a:ext cx="2011680" cy="24688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2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munim_scor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47504" y="1764792"/>
            <a:ext cx="1865376" cy="2322576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9674352" y="4251960"/>
            <a:ext cx="2011680" cy="20574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lnSpc>
                <a:spcPct val="105000"/>
              </a:lnSpc>
            </a:pPr>
            <a:r>
              <a:rPr sz="1100">
                <a:solidFill>
                  <a:srgbClr val="1F2A44"/>
                </a:solidFill>
                <a:latin typeface="Calibri"/>
              </a:rPr>
              <a:t>• Measures combo campaign uplift.</a:t>
            </a:r>
          </a:p>
          <a:p>
            <a:pPr>
              <a:lnSpc>
                <a:spcPct val="105000"/>
              </a:lnSpc>
            </a:pPr>
            <a:r>
              <a:rPr sz="1100">
                <a:solidFill>
                  <a:srgbClr val="1F2A44"/>
                </a:solidFill>
                <a:latin typeface="Calibri"/>
              </a:rPr>
              <a:t>• +21.4% revenue increase recorded.</a:t>
            </a:r>
          </a:p>
          <a:p>
            <a:pPr>
              <a:lnSpc>
                <a:spcPct val="105000"/>
              </a:lnSpc>
            </a:pPr>
            <a:r>
              <a:rPr sz="1100">
                <a:solidFill>
                  <a:srgbClr val="1F2A44"/>
                </a:solidFill>
                <a:latin typeface="Calibri"/>
              </a:rPr>
              <a:t>• Munim Score updates with higher rank.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0908792" y="1078992"/>
            <a:ext cx="777240" cy="219456"/>
          </a:xfrm>
          <a:prstGeom prst="roundRect">
            <a:avLst/>
          </a:prstGeom>
          <a:solidFill>
            <a:srgbClr val="E2E8F0"/>
          </a:solidFill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tIns="0" rIns="0" bIns="0"/>
          <a:lstStyle/>
          <a:p>
            <a:pPr algn="ctr"/>
            <a:r>
              <a:rPr sz="900" b="1">
                <a:solidFill>
                  <a:srgbClr val="475569"/>
                </a:solidFill>
                <a:latin typeface="Calibri"/>
              </a:rPr>
              <a:t>Simulated</a:t>
            </a:r>
          </a:p>
        </p:txBody>
      </p:sp>
      <p:sp>
        <p:nvSpPr>
          <p:cNvPr id="41" name="Rectangle 4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B5C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>
                <a:solidFill>
                  <a:srgbClr val="FFFFFF"/>
                </a:solidFill>
                <a:latin typeface="Calibri"/>
              </a:rPr>
              <a:t>Paytm AI Partner Hackathon 2026 | Munim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155680" y="6492240"/>
            <a:ext cx="73152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274320"/>
            <a:ext cx="1645920" cy="411480"/>
          </a:xfrm>
          <a:prstGeom prst="roundRect">
            <a:avLst/>
          </a:prstGeom>
          <a:solidFill>
            <a:srgbClr val="EEF2FF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>
                <a:solidFill>
                  <a:srgbClr val="002E6E"/>
                </a:solidFill>
                <a:latin typeface="Calibri"/>
              </a:rPr>
              <a:t>Team Munim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692640" y="274320"/>
            <a:ext cx="2133295" cy="411480"/>
          </a:xfrm>
          <a:prstGeom prst="roundRect">
            <a:avLst/>
          </a:prstGeom>
          <a:solidFill>
            <a:srgbClr val="FAFBFD"/>
          </a:solidFill>
          <a:ln w="12700">
            <a:solidFill>
              <a:srgbClr val="002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002E6E"/>
                </a:solidFill>
                <a:latin typeface="Calibri"/>
              </a:rPr>
              <a:t>Paytm AI Hackathon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03120" y="182880"/>
            <a:ext cx="7498079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600" b="1">
                <a:solidFill>
                  <a:srgbClr val="002E6E"/>
                </a:solidFill>
                <a:latin typeface="Georgia"/>
              </a:rPr>
              <a:t>FEASIBILITY &amp; VIABILITY: Field Realities and Tested Mitigations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005840"/>
            <a:ext cx="3291840" cy="53035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115568"/>
            <a:ext cx="301752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500" b="1">
                <a:solidFill>
                  <a:srgbClr val="002E6E"/>
                </a:solidFill>
                <a:latin typeface="Calibri"/>
              </a:rPr>
              <a:t>01 FEASIBILITY AT A GLANCE</a:t>
            </a:r>
          </a:p>
          <a:p>
            <a:r>
              <a:rPr sz="1100" i="1">
                <a:solidFill>
                  <a:srgbClr val="64748B"/>
                </a:solidFill>
                <a:latin typeface="Calibri"/>
              </a:rPr>
              <a:t>Evaluating solution readiness from every angle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45920"/>
            <a:ext cx="3017520" cy="694944"/>
          </a:xfrm>
          <a:prstGeom prst="roundRect">
            <a:avLst/>
          </a:prstGeom>
          <a:solidFill>
            <a:srgbClr val="E4F1FC"/>
          </a:solidFill>
          <a:ln w="15240">
            <a:solidFill>
              <a:srgbClr val="2A7B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12648" y="1801368"/>
            <a:ext cx="384048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A7B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databa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" y="1865376"/>
            <a:ext cx="256032" cy="25603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069848" y="1645920"/>
            <a:ext cx="2377440" cy="694944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300" b="1">
                <a:solidFill>
                  <a:srgbClr val="002E6E"/>
                </a:solidFill>
                <a:latin typeface="Calibri"/>
              </a:rPr>
              <a:t>Data Readiness</a:t>
            </a:r>
          </a:p>
          <a:p>
            <a:pPr>
              <a:lnSpc>
                <a:spcPct val="100000"/>
              </a:lnSpc>
            </a:pPr>
            <a:r>
              <a:rPr sz="1200">
                <a:solidFill>
                  <a:srgbClr val="1F2A44"/>
                </a:solidFill>
                <a:latin typeface="Calibri"/>
              </a:rPr>
              <a:t>UPI stream + 30-sec typed cash log.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2450592"/>
            <a:ext cx="3017520" cy="694944"/>
          </a:xfrm>
          <a:prstGeom prst="roundRect">
            <a:avLst/>
          </a:prstGeom>
          <a:solidFill>
            <a:srgbClr val="E6F6EE"/>
          </a:solidFill>
          <a:ln w="15240">
            <a:solidFill>
              <a:srgbClr val="2E9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12648" y="2606040"/>
            <a:ext cx="384048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E9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volume-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56" y="2670048"/>
            <a:ext cx="256032" cy="25603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069848" y="2450592"/>
            <a:ext cx="2377440" cy="694944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300" b="1">
                <a:solidFill>
                  <a:srgbClr val="002E6E"/>
                </a:solidFill>
                <a:latin typeface="Calibri"/>
              </a:rPr>
              <a:t>Hardware Safe</a:t>
            </a:r>
          </a:p>
          <a:p>
            <a:pPr>
              <a:lnSpc>
                <a:spcPct val="100000"/>
              </a:lnSpc>
            </a:pPr>
            <a:r>
              <a:rPr sz="1200">
                <a:solidFill>
                  <a:srgbClr val="1F2A44"/>
                </a:solidFill>
                <a:latin typeface="Calibri"/>
              </a:rPr>
              <a:t>Uses existing Soundbox &amp; merchant phone.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3255264"/>
            <a:ext cx="3017520" cy="694944"/>
          </a:xfrm>
          <a:prstGeom prst="roundRect">
            <a:avLst/>
          </a:prstGeom>
          <a:solidFill>
            <a:srgbClr val="EDE9F8"/>
          </a:solidFill>
          <a:ln w="15240">
            <a:solidFill>
              <a:srgbClr val="6C5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12648" y="3410712"/>
            <a:ext cx="384048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C5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cpu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656" y="3474720"/>
            <a:ext cx="256032" cy="256032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069848" y="3255264"/>
            <a:ext cx="2377440" cy="694944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300" b="1">
                <a:solidFill>
                  <a:srgbClr val="002E6E"/>
                </a:solidFill>
                <a:latin typeface="Calibri"/>
              </a:rPr>
              <a:t>Low Compute</a:t>
            </a:r>
          </a:p>
          <a:p>
            <a:pPr>
              <a:lnSpc>
                <a:spcPct val="100000"/>
              </a:lnSpc>
            </a:pPr>
            <a:r>
              <a:rPr sz="1200">
                <a:solidFill>
                  <a:srgbClr val="1F2A44"/>
                </a:solidFill>
                <a:latin typeface="Calibri"/>
              </a:rPr>
              <a:t>CPU-optimized lightweight Python stack.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4059936"/>
            <a:ext cx="3017520" cy="694944"/>
          </a:xfrm>
          <a:prstGeom prst="roundRect">
            <a:avLst/>
          </a:prstGeom>
          <a:solidFill>
            <a:srgbClr val="FDEEE0"/>
          </a:solidFill>
          <a:ln w="15240">
            <a:solidFill>
              <a:srgbClr val="E08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12648" y="4215384"/>
            <a:ext cx="384048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8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shield-che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6656" y="4279392"/>
            <a:ext cx="256032" cy="256032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069848" y="4059936"/>
            <a:ext cx="2377440" cy="694944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300" b="1">
                <a:solidFill>
                  <a:srgbClr val="002E6E"/>
                </a:solidFill>
                <a:latin typeface="Calibri"/>
              </a:rPr>
              <a:t>Human Control</a:t>
            </a:r>
          </a:p>
          <a:p>
            <a:pPr>
              <a:lnSpc>
                <a:spcPct val="100000"/>
              </a:lnSpc>
            </a:pPr>
            <a:r>
              <a:rPr sz="1200">
                <a:solidFill>
                  <a:srgbClr val="1F2A44"/>
                </a:solidFill>
                <a:latin typeface="Calibri"/>
              </a:rPr>
              <a:t>Mandatory single-use mobile approval gate.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4983480"/>
            <a:ext cx="3017520" cy="1143000"/>
          </a:xfrm>
          <a:prstGeom prst="roundRect">
            <a:avLst/>
          </a:prstGeom>
          <a:solidFill>
            <a:srgbClr val="E6F6EE"/>
          </a:solidFill>
          <a:ln w="19050">
            <a:solidFill>
              <a:srgbClr val="2E9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065F46"/>
                </a:solidFill>
                <a:latin typeface="Calibri"/>
              </a:rPr>
              <a:t>THE RESULT: HIGH ADOPTION</a:t>
            </a:r>
          </a:p>
          <a:p>
            <a:r>
              <a:rPr sz="1100">
                <a:solidFill>
                  <a:srgbClr val="1F2A44"/>
                </a:solidFill>
                <a:latin typeface="Calibri"/>
              </a:rPr>
              <a:t>A low-friction, high-trust copilot engineered specifically for informal micro-merchants.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840480" y="1005840"/>
            <a:ext cx="7955279" cy="53035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977640" y="1115568"/>
            <a:ext cx="7680959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500" b="1">
                <a:solidFill>
                  <a:srgbClr val="002E6E"/>
                </a:solidFill>
                <a:latin typeface="Calibri"/>
              </a:rPr>
              <a:t>CHALLENGE vs. TESTED MITIGATION MAPPING</a:t>
            </a:r>
          </a:p>
          <a:p>
            <a:r>
              <a:rPr sz="1100" i="1">
                <a:solidFill>
                  <a:srgbClr val="64748B"/>
                </a:solidFill>
                <a:latin typeface="Calibri"/>
              </a:rPr>
              <a:t>Complex Indian retail field problems paired with proven engineering answers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023360" y="1645920"/>
            <a:ext cx="3703320" cy="80467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6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629400" y="1719072"/>
            <a:ext cx="1005840" cy="219456"/>
          </a:xfrm>
          <a:prstGeom prst="round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B91C1C"/>
                </a:solidFill>
                <a:latin typeface="Calibri"/>
              </a:rPr>
              <a:t>BLINDSPOT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33088" y="1700784"/>
            <a:ext cx="2468880" cy="694944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1300" b="1">
                <a:solidFill>
                  <a:srgbClr val="002E6E"/>
                </a:solidFill>
                <a:latin typeface="Calibri"/>
              </a:rPr>
              <a:t>Invisible Cash &amp; Expenses</a:t>
            </a:r>
          </a:p>
          <a:p>
            <a:r>
              <a:rPr sz="1200">
                <a:solidFill>
                  <a:srgbClr val="1F2A44"/>
                </a:solidFill>
                <a:latin typeface="Calibri"/>
              </a:rPr>
              <a:t>Informal supplier cash payouts remain completely off digital books.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909560" y="1645920"/>
            <a:ext cx="3703320" cy="804672"/>
          </a:xfrm>
          <a:prstGeom prst="roundRect">
            <a:avLst/>
          </a:prstGeom>
          <a:solidFill>
            <a:srgbClr val="F0FDF4"/>
          </a:solidFill>
          <a:ln w="19050">
            <a:solidFill>
              <a:srgbClr val="2E9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10515600" y="1719072"/>
            <a:ext cx="1005840" cy="219456"/>
          </a:xfrm>
          <a:prstGeom prst="roundRect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15803D"/>
                </a:solidFill>
                <a:latin typeface="Calibri"/>
              </a:rPr>
              <a:t>VERIFIED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19288" y="1700784"/>
            <a:ext cx="2468880" cy="694944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1300" b="1">
                <a:solidFill>
                  <a:srgbClr val="002E6E"/>
                </a:solidFill>
                <a:latin typeface="Calibri"/>
              </a:rPr>
              <a:t>30-Second Bahi-Khata Ritual</a:t>
            </a:r>
          </a:p>
          <a:p>
            <a:r>
              <a:rPr sz="1200">
                <a:solidFill>
                  <a:srgbClr val="1F2A44"/>
                </a:solidFill>
                <a:latin typeface="Calibri"/>
              </a:rPr>
              <a:t>Reconciles cash payouts with UPI to compute true daily net profit.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023360" y="2514600"/>
            <a:ext cx="3703320" cy="80467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6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6629400" y="2587752"/>
            <a:ext cx="1005840" cy="219456"/>
          </a:xfrm>
          <a:prstGeom prst="round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B91C1C"/>
                </a:solidFill>
                <a:latin typeface="Calibri"/>
              </a:rPr>
              <a:t>CATALOG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133088" y="2569464"/>
            <a:ext cx="2468880" cy="694944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1300" b="1">
                <a:solidFill>
                  <a:srgbClr val="002E6E"/>
                </a:solidFill>
                <a:latin typeface="Calibri"/>
              </a:rPr>
              <a:t>No Ground Truth for Menu</a:t>
            </a:r>
          </a:p>
          <a:p>
            <a:r>
              <a:rPr sz="1200">
                <a:solidFill>
                  <a:srgbClr val="1F2A44"/>
                </a:solidFill>
                <a:latin typeface="Calibri"/>
              </a:rPr>
              <a:t>UPI stream gives only rupee amounts, not what items were sold.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909560" y="2514600"/>
            <a:ext cx="3703320" cy="804672"/>
          </a:xfrm>
          <a:prstGeom prst="roundRect">
            <a:avLst/>
          </a:prstGeom>
          <a:solidFill>
            <a:srgbClr val="F0FDF4"/>
          </a:solidFill>
          <a:ln w="19050">
            <a:solidFill>
              <a:srgbClr val="2E9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10515600" y="2587752"/>
            <a:ext cx="1005840" cy="219456"/>
          </a:xfrm>
          <a:prstGeom prst="roundRect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15803D"/>
                </a:solidFill>
                <a:latin typeface="Calibri"/>
              </a:rPr>
              <a:t>VERIFIED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019288" y="2569464"/>
            <a:ext cx="2468880" cy="694944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1300" b="1">
                <a:solidFill>
                  <a:srgbClr val="002E6E"/>
                </a:solidFill>
                <a:latin typeface="Calibri"/>
              </a:rPr>
              <a:t>Unsupervised GMM Clustering</a:t>
            </a:r>
          </a:p>
          <a:p>
            <a:r>
              <a:rPr sz="1200">
                <a:solidFill>
                  <a:srgbClr val="1F2A44"/>
                </a:solidFill>
                <a:latin typeface="Calibri"/>
              </a:rPr>
              <a:t>Groups transactions by price and prompts 1-tap confirmation chips.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023360" y="3383280"/>
            <a:ext cx="3703320" cy="80467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6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6629400" y="3456432"/>
            <a:ext cx="1005840" cy="219456"/>
          </a:xfrm>
          <a:prstGeom prst="round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B91C1C"/>
                </a:solidFill>
                <a:latin typeface="Calibri"/>
              </a:rPr>
              <a:t>COLLISION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133088" y="3438144"/>
            <a:ext cx="2468880" cy="694944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1300" b="1">
                <a:solidFill>
                  <a:srgbClr val="002E6E"/>
                </a:solidFill>
                <a:latin typeface="Calibri"/>
              </a:rPr>
              <a:t>Price-Point Collisions</a:t>
            </a:r>
          </a:p>
          <a:p>
            <a:r>
              <a:rPr sz="1200">
                <a:solidFill>
                  <a:srgbClr val="1F2A44"/>
                </a:solidFill>
                <a:latin typeface="Calibri"/>
              </a:rPr>
              <a:t>Identical price points (e.g. ₹10 Chai vs ₹10 Biscuit) cause ambiguity.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909560" y="3383280"/>
            <a:ext cx="3703320" cy="804672"/>
          </a:xfrm>
          <a:prstGeom prst="roundRect">
            <a:avLst/>
          </a:prstGeom>
          <a:solidFill>
            <a:srgbClr val="F0FDF4"/>
          </a:solidFill>
          <a:ln w="19050">
            <a:solidFill>
              <a:srgbClr val="2E9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10515600" y="3456432"/>
            <a:ext cx="1005840" cy="219456"/>
          </a:xfrm>
          <a:prstGeom prst="roundRect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15803D"/>
                </a:solidFill>
                <a:latin typeface="Calibri"/>
              </a:rPr>
              <a:t>VERIFIED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019288" y="3438144"/>
            <a:ext cx="2468880" cy="694944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1300" b="1">
                <a:solidFill>
                  <a:srgbClr val="002E6E"/>
                </a:solidFill>
                <a:latin typeface="Calibri"/>
              </a:rPr>
              <a:t>Subset Solver &amp; Priors</a:t>
            </a:r>
          </a:p>
          <a:p>
            <a:r>
              <a:rPr sz="1200">
                <a:solidFill>
                  <a:srgbClr val="1F2A44"/>
                </a:solidFill>
                <a:latin typeface="Calibri"/>
              </a:rPr>
              <a:t>Combinatorial solver ranks item combinations; merchant confirms once.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023360" y="4251960"/>
            <a:ext cx="3703320" cy="80467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6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6629400" y="4325112"/>
            <a:ext cx="1005840" cy="219456"/>
          </a:xfrm>
          <a:prstGeom prst="round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B91C1C"/>
                </a:solidFill>
                <a:latin typeface="Calibri"/>
              </a:rPr>
              <a:t>ACOUSTIC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133088" y="4306824"/>
            <a:ext cx="2468880" cy="694944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1300" b="1">
                <a:solidFill>
                  <a:srgbClr val="002E6E"/>
                </a:solidFill>
                <a:latin typeface="Calibri"/>
              </a:rPr>
              <a:t>Street Noise &amp; Acoustic Limit</a:t>
            </a:r>
          </a:p>
          <a:p>
            <a:r>
              <a:rPr sz="1200">
                <a:solidFill>
                  <a:srgbClr val="1F2A44"/>
                </a:solidFill>
                <a:latin typeface="Calibri"/>
              </a:rPr>
              <a:t>Loud market chatter makes continuous counter mic listening fail.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909560" y="4251960"/>
            <a:ext cx="3703320" cy="804672"/>
          </a:xfrm>
          <a:prstGeom prst="roundRect">
            <a:avLst/>
          </a:prstGeom>
          <a:solidFill>
            <a:srgbClr val="F0FDF4"/>
          </a:solidFill>
          <a:ln w="19050">
            <a:solidFill>
              <a:srgbClr val="2E9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10515600" y="4325112"/>
            <a:ext cx="1005840" cy="219456"/>
          </a:xfrm>
          <a:prstGeom prst="roundRect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15803D"/>
                </a:solidFill>
                <a:latin typeface="Calibri"/>
              </a:rPr>
              <a:t>VERIFIED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019288" y="4306824"/>
            <a:ext cx="2468880" cy="694944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1300" b="1">
                <a:solidFill>
                  <a:srgbClr val="002E6E"/>
                </a:solidFill>
                <a:latin typeface="Calibri"/>
              </a:rPr>
              <a:t>Output-Only Soundbox</a:t>
            </a:r>
          </a:p>
          <a:p>
            <a:r>
              <a:rPr sz="1200">
                <a:solidFill>
                  <a:srgbClr val="1F2A44"/>
                </a:solidFill>
                <a:latin typeface="Calibri"/>
              </a:rPr>
              <a:t>Soundbox is strictly a speaker; user inputs happen in private on phone.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4023360" y="5120640"/>
            <a:ext cx="3703320" cy="80467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6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6629400" y="5193792"/>
            <a:ext cx="1005840" cy="219456"/>
          </a:xfrm>
          <a:prstGeom prst="round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B91C1C"/>
                </a:solidFill>
                <a:latin typeface="Calibri"/>
              </a:rPr>
              <a:t>PRIVACY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133088" y="5175504"/>
            <a:ext cx="2468880" cy="694944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1300" b="1">
                <a:solidFill>
                  <a:srgbClr val="002E6E"/>
                </a:solidFill>
                <a:latin typeface="Calibri"/>
              </a:rPr>
              <a:t>Customer Debtor Privacy</a:t>
            </a:r>
          </a:p>
          <a:p>
            <a:r>
              <a:rPr sz="1200">
                <a:solidFill>
                  <a:srgbClr val="1F2A44"/>
                </a:solidFill>
                <a:latin typeface="Calibri"/>
              </a:rPr>
              <a:t>Aggressive debt reminders harm friendly neighborhood merchant relationships.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7909560" y="5120640"/>
            <a:ext cx="3703320" cy="804672"/>
          </a:xfrm>
          <a:prstGeom prst="roundRect">
            <a:avLst/>
          </a:prstGeom>
          <a:solidFill>
            <a:srgbClr val="F0FDF4"/>
          </a:solidFill>
          <a:ln w="19050">
            <a:solidFill>
              <a:srgbClr val="2E9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ounded Rectangle 53"/>
          <p:cNvSpPr/>
          <p:nvPr/>
        </p:nvSpPr>
        <p:spPr>
          <a:xfrm>
            <a:off x="10515600" y="5193792"/>
            <a:ext cx="1005840" cy="219456"/>
          </a:xfrm>
          <a:prstGeom prst="roundRect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15803D"/>
                </a:solidFill>
                <a:latin typeface="Calibri"/>
              </a:rPr>
              <a:t>ROADMAP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019288" y="5175504"/>
            <a:ext cx="2468880" cy="694944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1300" b="1">
                <a:solidFill>
                  <a:srgbClr val="002E6E"/>
                </a:solidFill>
                <a:latin typeface="Calibri"/>
              </a:rPr>
              <a:t>Tone-Controlled Approval</a:t>
            </a:r>
          </a:p>
          <a:p>
            <a:r>
              <a:rPr sz="1200">
                <a:solidFill>
                  <a:srgbClr val="1F2A44"/>
                </a:solidFill>
                <a:latin typeface="Calibri"/>
              </a:rPr>
              <a:t>Merchant chooses Polite tone; links dispatched only after mobile approval.</a:t>
            </a:r>
          </a:p>
        </p:txBody>
      </p:sp>
      <p:sp>
        <p:nvSpPr>
          <p:cNvPr id="56" name="Rectangle 55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B5C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>
                <a:solidFill>
                  <a:srgbClr val="FFFFFF"/>
                </a:solidFill>
                <a:latin typeface="Calibri"/>
              </a:rPr>
              <a:t>Paytm AI Partner Hackathon 2026 | Munim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1155680" y="6492240"/>
            <a:ext cx="73152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274320"/>
            <a:ext cx="1645920" cy="411480"/>
          </a:xfrm>
          <a:prstGeom prst="roundRect">
            <a:avLst/>
          </a:prstGeom>
          <a:solidFill>
            <a:srgbClr val="EEF2FF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>
                <a:solidFill>
                  <a:srgbClr val="002E6E"/>
                </a:solidFill>
                <a:latin typeface="Calibri"/>
              </a:rPr>
              <a:t>Team Munim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692640" y="274320"/>
            <a:ext cx="2133295" cy="411480"/>
          </a:xfrm>
          <a:prstGeom prst="roundRect">
            <a:avLst/>
          </a:prstGeom>
          <a:solidFill>
            <a:srgbClr val="FAFBFD"/>
          </a:solidFill>
          <a:ln w="12700">
            <a:solidFill>
              <a:srgbClr val="002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002E6E"/>
                </a:solidFill>
                <a:latin typeface="Calibri"/>
              </a:rPr>
              <a:t>Paytm AI Hackathon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03120" y="182880"/>
            <a:ext cx="7498079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600" b="1">
                <a:solidFill>
                  <a:srgbClr val="002E6E"/>
                </a:solidFill>
                <a:latin typeface="Georgia"/>
              </a:rPr>
              <a:t>IMPACT AND BENEFITS: Ecosystem Paradigm Shift &amp; Verification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005840"/>
            <a:ext cx="5303520" cy="23774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115568"/>
            <a:ext cx="50292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500" b="1">
                <a:solidFill>
                  <a:srgbClr val="002E6E"/>
                </a:solidFill>
                <a:latin typeface="Calibri"/>
              </a:rPr>
              <a:t>AUDIENCE &amp; ECOSYSTEM IMPACT</a:t>
            </a:r>
          </a:p>
          <a:p>
            <a:r>
              <a:rPr sz="1100" i="1">
                <a:solidFill>
                  <a:srgbClr val="64748B"/>
                </a:solidFill>
                <a:latin typeface="Calibri"/>
              </a:rPr>
              <a:t>Multi-sided value creation across the Paytm network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591056"/>
            <a:ext cx="1691640" cy="7772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E9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54864" rIns="73152" bIns="54864"/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002E6E"/>
                </a:solidFill>
                <a:latin typeface="Calibri"/>
              </a:rPr>
              <a:t>Micro-Merchants</a:t>
            </a:r>
          </a:p>
          <a:p>
            <a:pPr>
              <a:lnSpc>
                <a:spcPct val="100000"/>
              </a:lnSpc>
            </a:pPr>
            <a:r>
              <a:rPr sz="1000">
                <a:solidFill>
                  <a:srgbClr val="1F2A44"/>
                </a:solidFill>
                <a:latin typeface="Calibri"/>
              </a:rPr>
              <a:t>True profit clarity &amp; recovered udhaar.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2423160"/>
            <a:ext cx="1691640" cy="7772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08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54864" rIns="73152" bIns="54864"/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002E6E"/>
                </a:solidFill>
                <a:latin typeface="Calibri"/>
              </a:rPr>
              <a:t>Lending Partners</a:t>
            </a:r>
          </a:p>
          <a:p>
            <a:pPr>
              <a:lnSpc>
                <a:spcPct val="100000"/>
              </a:lnSpc>
            </a:pPr>
            <a:r>
              <a:rPr sz="1000">
                <a:solidFill>
                  <a:srgbClr val="1F2A44"/>
                </a:solidFill>
                <a:latin typeface="Calibri"/>
              </a:rPr>
              <a:t>Enriched cashflow behavioral signals.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840480" y="1591056"/>
            <a:ext cx="1691640" cy="7772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A7B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54864" rIns="73152" bIns="54864"/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002E6E"/>
                </a:solidFill>
                <a:latin typeface="Calibri"/>
              </a:rPr>
              <a:t>Paytm Payments</a:t>
            </a:r>
          </a:p>
          <a:p>
            <a:pPr>
              <a:lnSpc>
                <a:spcPct val="100000"/>
              </a:lnSpc>
            </a:pPr>
            <a:r>
              <a:rPr sz="1000">
                <a:solidFill>
                  <a:srgbClr val="1F2A44"/>
                </a:solidFill>
                <a:latin typeface="Calibri"/>
              </a:rPr>
              <a:t>Higher daily merchant app engagement.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840480" y="2423160"/>
            <a:ext cx="1691640" cy="7772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6C5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54864" rIns="73152" bIns="54864"/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002E6E"/>
                </a:solidFill>
                <a:latin typeface="Calibri"/>
              </a:rPr>
              <a:t>Soundbox Fleet</a:t>
            </a:r>
          </a:p>
          <a:p>
            <a:pPr>
              <a:lnSpc>
                <a:spcPct val="100000"/>
              </a:lnSpc>
            </a:pPr>
            <a:r>
              <a:rPr sz="1000">
                <a:solidFill>
                  <a:srgbClr val="1F2A44"/>
                </a:solidFill>
                <a:latin typeface="Calibri"/>
              </a:rPr>
              <a:t>Transforms speaker into active advisor.</a:t>
            </a:r>
          </a:p>
        </p:txBody>
      </p:sp>
      <p:sp>
        <p:nvSpPr>
          <p:cNvPr id="11" name="Oval 10"/>
          <p:cNvSpPr/>
          <p:nvPr/>
        </p:nvSpPr>
        <p:spPr>
          <a:xfrm>
            <a:off x="2423160" y="1801368"/>
            <a:ext cx="1188720" cy="1188720"/>
          </a:xfrm>
          <a:prstGeom prst="ellipse">
            <a:avLst/>
          </a:prstGeom>
          <a:solidFill>
            <a:srgbClr val="002E6E"/>
          </a:solidFill>
          <a:ln w="38100">
            <a:solidFill>
              <a:srgbClr val="00BA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MUNIM
AI ENGINE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52160" y="1005840"/>
            <a:ext cx="5943600" cy="23774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89320" y="1115568"/>
            <a:ext cx="56692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500" b="1">
                <a:solidFill>
                  <a:srgbClr val="002E6E"/>
                </a:solidFill>
                <a:latin typeface="Calibri"/>
              </a:rPr>
              <a:t>MEASURABLE SOLUTION BENEFITS</a:t>
            </a:r>
          </a:p>
          <a:p>
            <a:r>
              <a:rPr sz="1100" i="1">
                <a:solidFill>
                  <a:srgbClr val="64748B"/>
                </a:solidFill>
                <a:latin typeface="Calibri"/>
              </a:rPr>
              <a:t>Quantified operational gains across key store dimensions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89320" y="1572768"/>
            <a:ext cx="2743200" cy="768096"/>
          </a:xfrm>
          <a:prstGeom prst="roundRect">
            <a:avLst/>
          </a:prstGeom>
          <a:solidFill>
            <a:srgbClr val="E6F6EE"/>
          </a:solidFill>
          <a:ln w="15240">
            <a:solidFill>
              <a:srgbClr val="2E9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099048" y="1764792"/>
            <a:ext cx="384048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E9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bankno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63056" y="1828800"/>
            <a:ext cx="256032" cy="256032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556248" y="1572768"/>
            <a:ext cx="2103120" cy="768096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300" b="1">
                <a:solidFill>
                  <a:srgbClr val="002E6E"/>
                </a:solidFill>
                <a:latin typeface="Calibri"/>
              </a:rPr>
              <a:t>Financial Gain</a:t>
            </a:r>
          </a:p>
          <a:p>
            <a:pPr>
              <a:lnSpc>
                <a:spcPct val="100000"/>
              </a:lnSpc>
            </a:pPr>
            <a:r>
              <a:rPr sz="1200">
                <a:solidFill>
                  <a:srgbClr val="1F2A44"/>
                </a:solidFill>
                <a:latin typeface="Calibri"/>
              </a:rPr>
              <a:t>Eliminates ~15% unrecorded cash leakages &amp; accelerates debt recovery.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823960" y="1572768"/>
            <a:ext cx="2743200" cy="768096"/>
          </a:xfrm>
          <a:prstGeom prst="roundRect">
            <a:avLst/>
          </a:prstGeom>
          <a:solidFill>
            <a:srgbClr val="E4F1FC"/>
          </a:solidFill>
          <a:ln w="15240">
            <a:solidFill>
              <a:srgbClr val="2A7B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933688" y="1764792"/>
            <a:ext cx="384048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A7B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activit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97696" y="1828800"/>
            <a:ext cx="256032" cy="256032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9390888" y="1572768"/>
            <a:ext cx="2103120" cy="768096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300" b="1">
                <a:solidFill>
                  <a:srgbClr val="002E6E"/>
                </a:solidFill>
                <a:latin typeface="Calibri"/>
              </a:rPr>
              <a:t>Operational Ease</a:t>
            </a:r>
          </a:p>
          <a:p>
            <a:pPr>
              <a:lnSpc>
                <a:spcPct val="100000"/>
              </a:lnSpc>
            </a:pPr>
            <a:r>
              <a:rPr sz="1200">
                <a:solidFill>
                  <a:srgbClr val="1F2A44"/>
                </a:solidFill>
                <a:latin typeface="Calibri"/>
              </a:rPr>
              <a:t>Advance footfall rush surge warning enables timely stock prep.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89320" y="2414016"/>
            <a:ext cx="2743200" cy="768096"/>
          </a:xfrm>
          <a:prstGeom prst="roundRect">
            <a:avLst/>
          </a:prstGeom>
          <a:solidFill>
            <a:srgbClr val="FDEEE0"/>
          </a:solidFill>
          <a:ln w="15240">
            <a:solidFill>
              <a:srgbClr val="E08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099048" y="2606040"/>
            <a:ext cx="384048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8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shield-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63056" y="2670048"/>
            <a:ext cx="256032" cy="256032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6556248" y="2414016"/>
            <a:ext cx="2103120" cy="768096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300" b="1">
                <a:solidFill>
                  <a:srgbClr val="002E6E"/>
                </a:solidFill>
                <a:latin typeface="Calibri"/>
              </a:rPr>
              <a:t>Margin Protection</a:t>
            </a:r>
          </a:p>
          <a:p>
            <a:pPr>
              <a:lnSpc>
                <a:spcPct val="100000"/>
              </a:lnSpc>
            </a:pPr>
            <a:r>
              <a:rPr sz="1200">
                <a:solidFill>
                  <a:srgbClr val="1F2A44"/>
                </a:solidFill>
                <a:latin typeface="Calibri"/>
              </a:rPr>
              <a:t>Honest 'Don't Act' restraint suppresses discount coupons during peak rush.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823960" y="2414016"/>
            <a:ext cx="2743200" cy="768096"/>
          </a:xfrm>
          <a:prstGeom prst="roundRect">
            <a:avLst/>
          </a:prstGeom>
          <a:solidFill>
            <a:srgbClr val="EDE9F8"/>
          </a:solidFill>
          <a:ln w="15240">
            <a:solidFill>
              <a:srgbClr val="6C5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8933688" y="2606040"/>
            <a:ext cx="384048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C5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chart-pi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97696" y="2670048"/>
            <a:ext cx="256032" cy="256032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9390888" y="2414016"/>
            <a:ext cx="2103120" cy="768096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300" b="1">
                <a:solidFill>
                  <a:srgbClr val="002E6E"/>
                </a:solidFill>
                <a:latin typeface="Calibri"/>
              </a:rPr>
              <a:t>Credit Inclusion</a:t>
            </a:r>
          </a:p>
          <a:p>
            <a:pPr>
              <a:lnSpc>
                <a:spcPct val="100000"/>
              </a:lnSpc>
            </a:pPr>
            <a:r>
              <a:rPr sz="1200">
                <a:solidFill>
                  <a:srgbClr val="1F2A44"/>
                </a:solidFill>
                <a:latin typeface="Calibri"/>
              </a:rPr>
              <a:t>Generates alternative cashflow telemetry for unbanked micro-merchants.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65760" y="3520440"/>
            <a:ext cx="11430000" cy="23317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2920" y="3630168"/>
            <a:ext cx="111556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500" b="1">
                <a:solidFill>
                  <a:srgbClr val="002E6E"/>
                </a:solidFill>
                <a:latin typeface="Calibri"/>
              </a:rPr>
              <a:t>CURRENT TOOLS vs. MUNIM AI COPILOT (PARADIGM SHIFT)</a:t>
            </a:r>
          </a:p>
          <a:p>
            <a:r>
              <a:rPr sz="1100" i="1">
                <a:solidFill>
                  <a:srgbClr val="64748B"/>
                </a:solidFill>
                <a:latin typeface="Calibri"/>
              </a:rPr>
              <a:t>Comparing traditional manual bookkeeping against proactive AI copilot loops</a:t>
            </a:r>
          </a:p>
        </p:txBody>
      </p:sp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548640" y="3977639"/>
          <a:ext cx="11338560" cy="1691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2560320"/>
                <a:gridCol w="365760"/>
                <a:gridCol w="3291840"/>
                <a:gridCol w="3474720"/>
              </a:tblGrid>
              <a:tr h="28194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Parameter</a:t>
                      </a:r>
                    </a:p>
                  </a:txBody>
                  <a:tcPr anchor="ctr">
                    <a:solidFill>
                      <a:srgbClr val="002E6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Current Manual Bookkeeping</a:t>
                      </a:r>
                    </a:p>
                  </a:txBody>
                  <a:tcPr anchor="ctr">
                    <a:solidFill>
                      <a:srgbClr val="002E6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→</a:t>
                      </a:r>
                    </a:p>
                  </a:txBody>
                  <a:tcPr anchor="ctr">
                    <a:solidFill>
                      <a:srgbClr val="002E6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Proposed Munim AI Copilot</a:t>
                      </a:r>
                    </a:p>
                  </a:txBody>
                  <a:tcPr anchor="ctr">
                    <a:solidFill>
                      <a:srgbClr val="002E6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AI Engine / Implementation</a:t>
                      </a:r>
                    </a:p>
                  </a:txBody>
                  <a:tcPr anchor="ctr">
                    <a:solidFill>
                      <a:srgbClr val="002E6E"/>
                    </a:solidFill>
                  </a:tcPr>
                </a:tc>
              </a:tr>
              <a:tr h="28194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02E6E"/>
                          </a:solidFill>
                          <a:latin typeface="Calibri"/>
                        </a:rPr>
                        <a:t>Timing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D64545"/>
                          </a:solidFill>
                          <a:latin typeface="Calibri"/>
                        </a:rPr>
                        <a:t>✗ Post-facto end-of-month review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64748B"/>
                          </a:solidFill>
                          <a:latin typeface="Calibri"/>
                        </a:rPr>
                        <a:t>→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5803D"/>
                          </a:solidFill>
                          <a:latin typeface="Calibri"/>
                        </a:rPr>
                        <a:t>✓ Real-time streaming &amp; ambient alerts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F2A44"/>
                          </a:solidFill>
                          <a:latin typeface="Calibri"/>
                        </a:rPr>
                        <a:t>Continuous transaction listener &amp; TTS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8194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02E6E"/>
                          </a:solidFill>
                          <a:latin typeface="Calibri"/>
                        </a:rPr>
                        <a:t>Store Actions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D64545"/>
                          </a:solidFill>
                          <a:latin typeface="Calibri"/>
                        </a:rPr>
                        <a:t>✗ Purely manual calculation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64748B"/>
                          </a:solidFill>
                          <a:latin typeface="Calibri"/>
                        </a:rPr>
                        <a:t>→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5803D"/>
                          </a:solidFill>
                          <a:latin typeface="Calibri"/>
                        </a:rPr>
                        <a:t>✓ Proactive drafts with 1-tap mobile approval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F2A44"/>
                          </a:solidFill>
                          <a:latin typeface="Calibri"/>
                        </a:rPr>
                        <a:t>Deterministic reasoning &amp; token gate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28194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02E6E"/>
                          </a:solidFill>
                          <a:latin typeface="Calibri"/>
                        </a:rPr>
                        <a:t>Offline Cash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D64545"/>
                          </a:solidFill>
                          <a:latin typeface="Calibri"/>
                        </a:rPr>
                        <a:t>✗ Informal cash invisible to bank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64748B"/>
                          </a:solidFill>
                          <a:latin typeface="Calibri"/>
                        </a:rPr>
                        <a:t>→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5803D"/>
                          </a:solidFill>
                          <a:latin typeface="Calibri"/>
                        </a:rPr>
                        <a:t>✓ 30-second daily evening Bahi-Khata log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F2A44"/>
                          </a:solidFill>
                          <a:latin typeface="Calibri"/>
                        </a:rPr>
                        <a:t>Reconciles cash with digital for True Profit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8194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02E6E"/>
                          </a:solidFill>
                          <a:latin typeface="Calibri"/>
                        </a:rPr>
                        <a:t>Item Visibility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D64545"/>
                          </a:solidFill>
                          <a:latin typeface="Calibri"/>
                        </a:rPr>
                        <a:t>✗ Expensive POS barcode scanners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64748B"/>
                          </a:solidFill>
                          <a:latin typeface="Calibri"/>
                        </a:rPr>
                        <a:t>→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5803D"/>
                          </a:solidFill>
                          <a:latin typeface="Calibri"/>
                        </a:rPr>
                        <a:t>✓ Unsupervised menu discovery without POS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F2A44"/>
                          </a:solidFill>
                          <a:latin typeface="Calibri"/>
                        </a:rPr>
                        <a:t>GMM clustering + combo subset solver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28194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02E6E"/>
                          </a:solidFill>
                          <a:latin typeface="Calibri"/>
                        </a:rPr>
                        <a:t>Safety &amp; Math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D64545"/>
                          </a:solidFill>
                          <a:latin typeface="Calibri"/>
                        </a:rPr>
                        <a:t>✗ LLM math hallucination risk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64748B"/>
                          </a:solidFill>
                          <a:latin typeface="Calibri"/>
                        </a:rPr>
                        <a:t>→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5803D"/>
                          </a:solidFill>
                          <a:latin typeface="Calibri"/>
                        </a:rPr>
                        <a:t>✓ 0 numeric errors on 50 QA benchmarks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F2A44"/>
                          </a:solidFill>
                          <a:latin typeface="Calibri"/>
                        </a:rPr>
                        <a:t>Strict Python arithmetic (LLM math-free)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3" name="Rounded Rectangle 32"/>
          <p:cNvSpPr/>
          <p:nvPr/>
        </p:nvSpPr>
        <p:spPr>
          <a:xfrm>
            <a:off x="365760" y="5897880"/>
            <a:ext cx="10424160" cy="502920"/>
          </a:xfrm>
          <a:prstGeom prst="roundRect">
            <a:avLst/>
          </a:prstGeom>
          <a:solidFill>
            <a:srgbClr val="E6F6EE"/>
          </a:solidFill>
          <a:ln w="15240">
            <a:solidFill>
              <a:srgbClr val="2E9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420624" y="6003036"/>
            <a:ext cx="292608" cy="2926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E9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Picture 34" descr="circle-che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6344" y="6048756"/>
            <a:ext cx="201168" cy="201168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786384" y="5897880"/>
            <a:ext cx="9930384" cy="502920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100" b="1">
                <a:solidFill>
                  <a:srgbClr val="002E6E"/>
                </a:solidFill>
                <a:latin typeface="Calibri"/>
              </a:rPr>
              <a:t>Empirical Proof</a:t>
            </a:r>
          </a:p>
          <a:p>
            <a:pPr>
              <a:lnSpc>
                <a:spcPct val="100000"/>
              </a:lnSpc>
            </a:pPr>
            <a:r>
              <a:rPr sz="1000">
                <a:solidFill>
                  <a:srgbClr val="1F2A44"/>
                </a:solidFill>
                <a:latin typeface="Calibri"/>
              </a:rPr>
              <a:t>0 numeric errors on 50 QA tests (synthetic data, n=50) | 27/30 voice phrases parsed | Item F1: 1.0 clean / 0.588 stress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0927080" y="6016752"/>
            <a:ext cx="822960" cy="219456"/>
          </a:xfrm>
          <a:prstGeom prst="roundRect">
            <a:avLst/>
          </a:prstGeom>
          <a:solidFill>
            <a:srgbClr val="E2E8F0"/>
          </a:solidFill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tIns="0" rIns="0" bIns="0"/>
          <a:lstStyle/>
          <a:p>
            <a:pPr algn="ctr"/>
            <a:r>
              <a:rPr sz="900" b="1">
                <a:solidFill>
                  <a:srgbClr val="475569"/>
                </a:solidFill>
                <a:latin typeface="Calibri"/>
              </a:rPr>
              <a:t>Simulated</a:t>
            </a:r>
          </a:p>
        </p:txBody>
      </p:sp>
      <p:sp>
        <p:nvSpPr>
          <p:cNvPr id="38" name="Rectangle 37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B5C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>
                <a:solidFill>
                  <a:srgbClr val="FFFFFF"/>
                </a:solidFill>
                <a:latin typeface="Calibri"/>
              </a:rPr>
              <a:t>Paytm AI Partner Hackathon 2026 | Munim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155680" y="6492240"/>
            <a:ext cx="73152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