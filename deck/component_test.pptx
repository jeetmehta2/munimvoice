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1645920" cy="4114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002E6E"/>
                </a:solidFill>
                <a:latin typeface="Calibri"/>
              </a:rPr>
              <a:t>Team Munim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274320"/>
            <a:ext cx="2133295" cy="41148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00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002E6E"/>
                </a:solidFill>
                <a:latin typeface="Calibri"/>
              </a:rPr>
              <a:t>Paytm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82880"/>
            <a:ext cx="7498079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002E6E"/>
                </a:solidFill>
                <a:latin typeface="Georgia"/>
              </a:rPr>
              <a:t>DESIGN SYSTEM COMPONENT PREVIEW</a:t>
            </a:r>
          </a:p>
        </p:txBody>
      </p:sp>
      <p:sp>
        <p:nvSpPr>
          <p:cNvPr id="5" name="Oval 4"/>
          <p:cNvSpPr/>
          <p:nvPr/>
        </p:nvSpPr>
        <p:spPr>
          <a:xfrm>
            <a:off x="365760" y="1005840"/>
            <a:ext cx="365760" cy="365760"/>
          </a:xfrm>
          <a:prstGeom prst="ellipse">
            <a:avLst/>
          </a:prstGeom>
          <a:solidFill>
            <a:srgbClr val="00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005840"/>
            <a:ext cx="365760" cy="365760"/>
          </a:xfrm>
          <a:prstGeom prst="ellipse">
            <a:avLst/>
          </a:prstGeom>
          <a:solidFill>
            <a:srgbClr val="00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Oval 6"/>
          <p:cNvSpPr/>
          <p:nvPr/>
        </p:nvSpPr>
        <p:spPr>
          <a:xfrm>
            <a:off x="1280160" y="1005840"/>
            <a:ext cx="365760" cy="365760"/>
          </a:xfrm>
          <a:prstGeom prst="ellipse">
            <a:avLst/>
          </a:prstGeom>
          <a:solidFill>
            <a:srgbClr val="00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005840"/>
            <a:ext cx="1115568" cy="292608"/>
          </a:xfrm>
          <a:prstGeom prst="roundRect">
            <a:avLst/>
          </a:prstGeom>
          <a:solidFill>
            <a:srgbClr val="E6F6EE"/>
          </a:solidFill>
          <a:ln w="1270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65F46"/>
                </a:solidFill>
                <a:latin typeface="Calibri"/>
              </a:rPr>
              <a:t>Mint Pill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005840"/>
            <a:ext cx="1042416" cy="292608"/>
          </a:xfrm>
          <a:prstGeom prst="roundRect">
            <a:avLst/>
          </a:prstGeom>
          <a:solidFill>
            <a:srgbClr val="E4F1FC"/>
          </a:solidFill>
          <a:ln w="1270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E40AF"/>
                </a:solidFill>
                <a:latin typeface="Calibri"/>
              </a:rPr>
              <a:t>Sky Pill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1005840"/>
            <a:ext cx="1188720" cy="292608"/>
          </a:xfrm>
          <a:prstGeom prst="roundRect">
            <a:avLst/>
          </a:prstGeom>
          <a:solidFill>
            <a:srgbClr val="FDEEE0"/>
          </a:solidFill>
          <a:ln w="1270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9A3412"/>
                </a:solidFill>
                <a:latin typeface="Calibri"/>
              </a:rPr>
              <a:t>Peach Pill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005840"/>
            <a:ext cx="1408176" cy="292608"/>
          </a:xfrm>
          <a:prstGeom prst="roundRect">
            <a:avLst/>
          </a:prstGeom>
          <a:solidFill>
            <a:srgbClr val="EDE9F8"/>
          </a:solidFill>
          <a:ln w="1270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5B21B6"/>
                </a:solidFill>
                <a:latin typeface="Calibri"/>
              </a:rPr>
              <a:t>Lavender Pill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05840"/>
            <a:ext cx="1005840" cy="237744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475569"/>
                </a:solidFill>
                <a:latin typeface="Calibri"/>
              </a:rPr>
              <a:t>Simulated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554480"/>
            <a:ext cx="2743200" cy="822960"/>
          </a:xfrm>
          <a:prstGeom prst="roundRect">
            <a:avLst/>
          </a:prstGeom>
          <a:solidFill>
            <a:srgbClr val="FDEEE0"/>
          </a:solidFill>
          <a:ln w="1524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8" y="1760220"/>
            <a:ext cx="4114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volum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" y="1828800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6696" y="1554480"/>
            <a:ext cx="2002536" cy="8229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Soundbox Brief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Output-only audio speaker for merchant daily briefs.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1554480"/>
            <a:ext cx="2743200" cy="822960"/>
          </a:xfrm>
          <a:prstGeom prst="roundRect">
            <a:avLst/>
          </a:prstGeom>
          <a:solidFill>
            <a:srgbClr val="E4F1FC"/>
          </a:solidFill>
          <a:ln w="1524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01568" y="1760220"/>
            <a:ext cx="4114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art-colum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148" y="1828800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922776" y="1554480"/>
            <a:ext cx="2002536" cy="8229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Item Inference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Clusters price points into menu items without POS.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554480"/>
            <a:ext cx="2743200" cy="822960"/>
          </a:xfrm>
          <a:prstGeom prst="roundRect">
            <a:avLst/>
          </a:prstGeom>
          <a:solidFill>
            <a:srgbClr val="E6F6EE"/>
          </a:solidFill>
          <a:ln w="1524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27648" y="1760220"/>
            <a:ext cx="4114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ook-op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228" y="1828800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48856" y="1554480"/>
            <a:ext cx="2002536" cy="8229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Bahi-Khata Ritual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Captures evening cash expenses for true profit.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1554480"/>
            <a:ext cx="2651760" cy="822960"/>
          </a:xfrm>
          <a:prstGeom prst="roundRect">
            <a:avLst/>
          </a:prstGeom>
          <a:solidFill>
            <a:srgbClr val="EDE9F8"/>
          </a:solidFill>
          <a:ln w="1524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53728" y="1760220"/>
            <a:ext cx="4114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hield-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2308" y="1828800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774936" y="1554480"/>
            <a:ext cx="1911096" cy="82296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02E6E"/>
                </a:solidFill>
                <a:latin typeface="Calibri"/>
              </a:rPr>
              <a:t>Safety Guardrails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Single-use tokens gate external adapter calls.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2560320"/>
            <a:ext cx="27432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011680" y="2633472"/>
            <a:ext cx="1005840" cy="219456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B91C1C"/>
                </a:solidFill>
                <a:latin typeface="Calibri"/>
              </a:rPr>
              <a:t>ACOUSTIC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2615184"/>
            <a:ext cx="1508760" cy="8961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1">
                <a:solidFill>
                  <a:srgbClr val="002E6E"/>
                </a:solidFill>
                <a:latin typeface="Calibri"/>
              </a:rPr>
              <a:t>Street Noise &amp; Chatter</a:t>
            </a:r>
          </a:p>
          <a:p>
            <a:r>
              <a:rPr sz="1200">
                <a:solidFill>
                  <a:srgbClr val="1F2A44"/>
                </a:solidFill>
                <a:latin typeface="Calibri"/>
              </a:rPr>
              <a:t>Loud ambient market chatter makes continuous mic listening unreliable.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0" y="2560320"/>
            <a:ext cx="2743200" cy="10058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937760" y="2633472"/>
            <a:ext cx="1005840" cy="21945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5803D"/>
                </a:solidFill>
                <a:latin typeface="Calibri"/>
              </a:rPr>
              <a:t>VERIFIED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1568" y="2615184"/>
            <a:ext cx="1508760" cy="89611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1">
                <a:solidFill>
                  <a:srgbClr val="002E6E"/>
                </a:solidFill>
                <a:latin typeface="Calibri"/>
              </a:rPr>
              <a:t>Output-Only Soundbox</a:t>
            </a:r>
          </a:p>
          <a:p>
            <a:r>
              <a:rPr sz="1200">
                <a:solidFill>
                  <a:srgbClr val="1F2A44"/>
                </a:solidFill>
                <a:latin typeface="Calibri"/>
              </a:rPr>
              <a:t>Speaker directs to mobile phone where typing or focused speech occurs.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2560320"/>
            <a:ext cx="274320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ho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2633472"/>
            <a:ext cx="2596896" cy="1591056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6309360" y="4169664"/>
            <a:ext cx="2560320" cy="256032"/>
          </a:xfrm>
          <a:prstGeom prst="roundRect">
            <a:avLst/>
          </a:prstGeom>
          <a:solidFill>
            <a:srgbClr val="002E6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Working prototype, simulated data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65760" y="3749039"/>
          <a:ext cx="113385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365760"/>
                <a:gridCol w="3291840"/>
                <a:gridCol w="3474720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anchor="ctr"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Traditional Khata</a:t>
                      </a:r>
                    </a:p>
                  </a:txBody>
                  <a:tcPr anchor="ctr"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 anchor="ctr"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Proposed Munim AI</a:t>
                      </a:r>
                    </a:p>
                  </a:txBody>
                  <a:tcPr anchor="ctr"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AI Engine / Implementation</a:t>
                      </a:r>
                    </a:p>
                  </a:txBody>
                  <a:tcPr anchor="ctr">
                    <a:solidFill>
                      <a:srgbClr val="002E6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2E6E"/>
                          </a:solidFill>
                          <a:latin typeface="Calibri"/>
                        </a:rPr>
                        <a:t>Profit Visibility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D64545"/>
                          </a:solidFill>
                          <a:latin typeface="Calibri"/>
                        </a:rPr>
                        <a:t>✗ Bank balance mistaken for profit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4748B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803D"/>
                          </a:solidFill>
                          <a:latin typeface="Calibri"/>
                        </a:rPr>
                        <a:t>✓ True Net Profit (UPI+Cash-Exp)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Deterministic Python arithmetic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2E6E"/>
                          </a:solidFill>
                          <a:latin typeface="Calibri"/>
                        </a:rPr>
                        <a:t>Debt Recovery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D64545"/>
                          </a:solidFill>
                          <a:latin typeface="Calibri"/>
                        </a:rPr>
                        <a:t>✗ Awkward manual debtor calls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4748B"/>
                          </a:solidFill>
                          <a:latin typeface="Calibri"/>
                        </a:rPr>
                        <a:t>→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803D"/>
                          </a:solidFill>
                          <a:latin typeface="Calibri"/>
                        </a:rPr>
                        <a:t>✓ 1-tap polite WhatsApp links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Consent gate + template tone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9" name="Rounded Rectangle 38"/>
          <p:cNvSpPr/>
          <p:nvPr/>
        </p:nvSpPr>
        <p:spPr>
          <a:xfrm>
            <a:off x="9144000" y="2560320"/>
            <a:ext cx="11887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7B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volum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28" y="2670048"/>
            <a:ext cx="320040" cy="32004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646920" y="2633472"/>
            <a:ext cx="594360" cy="9052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1">
                <a:solidFill>
                  <a:srgbClr val="002E6E"/>
                </a:solidFill>
                <a:latin typeface="Calibri"/>
              </a:rPr>
              <a:t>Hardware</a:t>
            </a:r>
          </a:p>
          <a:p>
            <a:r>
              <a:rPr sz="1200">
                <a:solidFill>
                  <a:srgbClr val="1F2A44"/>
                </a:solidFill>
                <a:latin typeface="Calibri"/>
              </a:rPr>
              <a:t>Uses existing speaker.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607040" y="2560320"/>
            <a:ext cx="11887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mi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6768" y="2670048"/>
            <a:ext cx="320040" cy="32004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1109960" y="2633472"/>
            <a:ext cx="594360" cy="9052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1">
                <a:solidFill>
                  <a:srgbClr val="002E6E"/>
                </a:solidFill>
                <a:latin typeface="Calibri"/>
              </a:rPr>
              <a:t>Literacy</a:t>
            </a:r>
          </a:p>
          <a:p>
            <a:r>
              <a:rPr sz="1200">
                <a:solidFill>
                  <a:srgbClr val="1F2A44"/>
                </a:solidFill>
                <a:latin typeface="Calibri"/>
              </a:rPr>
              <a:t>Voice/Hinglish briefs.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3886200"/>
            <a:ext cx="11887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cpu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3728" y="3995928"/>
            <a:ext cx="320040" cy="32004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646920" y="3959352"/>
            <a:ext cx="594360" cy="9052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1">
                <a:solidFill>
                  <a:srgbClr val="002E6E"/>
                </a:solidFill>
                <a:latin typeface="Calibri"/>
              </a:rPr>
              <a:t>Economic</a:t>
            </a:r>
          </a:p>
          <a:p>
            <a:r>
              <a:rPr sz="1200">
                <a:solidFill>
                  <a:srgbClr val="1F2A44"/>
                </a:solidFill>
                <a:latin typeface="Calibri"/>
              </a:rPr>
              <a:t>Lightweight compute.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607040" y="3886200"/>
            <a:ext cx="118872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C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shield-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6768" y="3995928"/>
            <a:ext cx="320040" cy="3200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1109960" y="3959352"/>
            <a:ext cx="594360" cy="90525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 b="1">
                <a:solidFill>
                  <a:srgbClr val="002E6E"/>
                </a:solidFill>
                <a:latin typeface="Calibri"/>
              </a:rPr>
              <a:t>Trust</a:t>
            </a:r>
          </a:p>
          <a:p>
            <a:r>
              <a:rPr sz="1200">
                <a:solidFill>
                  <a:srgbClr val="1F2A44"/>
                </a:solidFill>
                <a:latin typeface="Calibri"/>
              </a:rPr>
              <a:t>100% human-in-loop.</a:t>
            </a:r>
          </a:p>
        </p:txBody>
      </p:sp>
      <p:sp>
        <p:nvSpPr>
          <p:cNvPr id="51" name="Oval 50"/>
          <p:cNvSpPr/>
          <p:nvPr/>
        </p:nvSpPr>
        <p:spPr>
          <a:xfrm>
            <a:off x="9829800" y="3108960"/>
            <a:ext cx="1280160" cy="1280160"/>
          </a:xfrm>
          <a:prstGeom prst="ellipse">
            <a:avLst/>
          </a:prstGeom>
          <a:solidFill>
            <a:srgbClr val="002E6E"/>
          </a:solidFill>
          <a:ln w="381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FEASIBILITY
AT A GLANCE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365760" y="5303520"/>
            <a:ext cx="731520" cy="274320"/>
          </a:xfrm>
          <a:prstGeom prst="rightArrow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own Arrow 52"/>
          <p:cNvSpPr/>
          <p:nvPr/>
        </p:nvSpPr>
        <p:spPr>
          <a:xfrm>
            <a:off x="1280160" y="5303520"/>
            <a:ext cx="274320" cy="548640"/>
          </a:xfrm>
          <a:prstGeom prst="downArrow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Paytm AI Partner Hackathon 2026 | Munim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6492240"/>
            <a:ext cx="731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